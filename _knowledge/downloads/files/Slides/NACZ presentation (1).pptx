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24"/>
  </p:handoutMasterIdLst>
  <p:sldIdLst>
    <p:sldId id="11826036" r:id="rId4"/>
    <p:sldId id="11826052" r:id="rId6"/>
    <p:sldId id="11826053" r:id="rId7"/>
    <p:sldId id="11826523" r:id="rId8"/>
    <p:sldId id="11826055" r:id="rId9"/>
    <p:sldId id="11826067" r:id="rId10"/>
    <p:sldId id="11826110" r:id="rId11"/>
    <p:sldId id="11826056" r:id="rId12"/>
    <p:sldId id="11826063" r:id="rId13"/>
    <p:sldId id="11826064" r:id="rId14"/>
    <p:sldId id="11826524" r:id="rId15"/>
    <p:sldId id="11826533" r:id="rId16"/>
    <p:sldId id="11826534" r:id="rId17"/>
    <p:sldId id="11826526" r:id="rId18"/>
    <p:sldId id="11826528" r:id="rId19"/>
    <p:sldId id="11826529" r:id="rId20"/>
    <p:sldId id="11826530" r:id="rId21"/>
    <p:sldId id="11826531" r:id="rId22"/>
    <p:sldId id="11826066" r:id="rId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 magaya" initials="dm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08" autoAdjust="0"/>
  </p:normalViewPr>
  <p:slideViewPr>
    <p:cSldViewPr snapToGrid="0">
      <p:cViewPr varScale="1">
        <p:scale>
          <a:sx n="43" d="100"/>
          <a:sy n="43" d="100"/>
        </p:scale>
        <p:origin x="56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2827"/>
    </p:cViewPr>
  </p:sorter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0E447-6A9A-4C6D-859D-973580516B6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B306D-2225-4D18-A524-5A93C289B6F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2F59FB1-F58B-EF4F-8835-9E3EC9E82B29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740519873_3318x2212.jpg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z="12800" spc="-128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r>
              <a:t>Presentation Subtitle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4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3000" spc="-29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3" name="Image"/>
          <p:cNvSpPr>
            <a:spLocks noGrp="1"/>
          </p:cNvSpPr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r>
              <a:t>Slide Subtitle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4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1" name="Image"/>
          <p:cNvSpPr>
            <a:spLocks noGrp="1"/>
          </p:cNvSpPr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62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z="12800" spc="0"/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r>
              <a:t>Agenda Topics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0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Agenda Subtitle</a:t>
            </a:r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r>
              <a:t>Statement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10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100%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“Notable Quote”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941297804_1296x1457.jpg"/>
          <p:cNvSpPr>
            <a:spLocks noGrp="1"/>
          </p:cNvSpPr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5" name="915009552_2264x1509.jpg"/>
          <p:cNvSpPr>
            <a:spLocks noGrp="1"/>
          </p:cNvSpPr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6" name="740519873_3318x2212.jpg"/>
          <p:cNvSpPr>
            <a:spLocks noGrp="1"/>
          </p:cNvSpPr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8205" y="13076012"/>
            <a:ext cx="375103" cy="379591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fld id="{F6ECC061-3EDE-431E-B386-C6C6D49071CC}" type="datetimeFigureOut">
              <a:rPr lang="en-ZA"/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itchFamily="34" charset="-128"/>
              </a:defRPr>
            </a:lvl1pPr>
          </a:lstStyle>
          <a:p>
            <a:pPr>
              <a:defRPr/>
            </a:pPr>
            <a:fld id="{6EC22206-9579-4310-A2D1-AD216AC0CBD3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fld id="{69C57217-5A5A-4915-B17C-71538460A3E5}" type="datetimeFigureOut">
              <a:rPr lang="en-ZA"/>
            </a:fld>
            <a:endParaRPr lang="en-ZA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itchFamily="34" charset="-128"/>
              </a:defRPr>
            </a:lvl1pPr>
          </a:lstStyle>
          <a:p>
            <a:pPr>
              <a:defRPr/>
            </a:pPr>
            <a:fld id="{AE500F0B-4E29-498D-B254-1B4B7BC73383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fld id="{3C1EF800-28FD-4DA7-9D2F-CE3E13278138}" type="datetimeFigureOut">
              <a:rPr lang="en-ZA"/>
            </a:fld>
            <a:endParaRPr lang="en-ZA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itchFamily="34" charset="-128"/>
              </a:defRPr>
            </a:lvl1pPr>
          </a:lstStyle>
          <a:p>
            <a:pPr>
              <a:defRPr/>
            </a:pPr>
            <a:fld id="{7C929573-7B65-4386-B704-5E3C36463A75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rtlCol="0">
            <a:normAutofit/>
          </a:bodyPr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pPr lvl="0"/>
            <a:endParaRPr lang="en-Z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fld id="{0AEB213F-4085-4373-A56A-7CA69FE40D41}" type="datetimeFigureOut">
              <a:rPr lang="en-ZA"/>
            </a:fld>
            <a:endParaRPr lang="en-ZA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itchFamily="34" charset="-128"/>
              </a:defRPr>
            </a:lvl1pPr>
          </a:lstStyle>
          <a:p>
            <a:pPr>
              <a:defRPr/>
            </a:pPr>
            <a:fld id="{6183A28A-951E-484D-8567-447DE9781EE2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fld id="{578DF364-EE3B-4822-8050-0ABC3103ECF3}" type="datetimeFigureOut">
              <a:rPr lang="en-ZA"/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itchFamily="34" charset="-128"/>
              </a:defRPr>
            </a:lvl1pPr>
          </a:lstStyle>
          <a:p>
            <a:pPr>
              <a:defRPr/>
            </a:pPr>
            <a:fld id="{3EE4E57C-0E5A-490C-8290-7DBB948446DD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fld id="{1FDFFB2C-92A3-40C7-9B23-6312B4D75319}" type="datetimeFigureOut">
              <a:rPr lang="en-ZA"/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itchFamily="34" charset="-128"/>
              </a:defRPr>
            </a:lvl1pPr>
          </a:lstStyle>
          <a:p>
            <a:pPr>
              <a:defRPr/>
            </a:pPr>
            <a:fld id="{A294B9C0-5B6B-449C-9ABF-6F4CC7893087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hyperlink" Target="mailto:dennis@rubiem.com" TargetMode="Externa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lnSpc>
                <a:spcPct val="100000"/>
              </a:lnSpc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44" y="2802708"/>
            <a:ext cx="3328853" cy="1210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17116077" y="12861495"/>
            <a:ext cx="6957354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+263 71 777 0666, </a:t>
            </a:r>
            <a:r>
              <a:rPr lang="en-US" sz="3200" b="1" dirty="0">
                <a:hlinkClick r:id="rId15"/>
              </a:rPr>
              <a:t>dennis@rubiem.com</a:t>
            </a:r>
            <a:r>
              <a:rPr lang="en-US" sz="3200" b="1" dirty="0"/>
              <a:t> </a:t>
            </a:r>
            <a:endParaRPr lang="en-US" sz="3200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ZA" altLang="en-US"/>
          </a:p>
        </p:txBody>
      </p:sp>
      <p:sp>
        <p:nvSpPr>
          <p:cNvPr id="205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ZA" altLang="en-US"/>
          </a:p>
        </p:txBody>
      </p:sp>
      <p:grpSp>
        <p:nvGrpSpPr>
          <p:cNvPr id="2053" name="Group 5"/>
          <p:cNvGrpSpPr/>
          <p:nvPr userDrawn="1"/>
        </p:nvGrpSpPr>
        <p:grpSpPr bwMode="auto">
          <a:xfrm flipH="1">
            <a:off x="23675976" y="6623050"/>
            <a:ext cx="708024" cy="6696076"/>
            <a:chOff x="837235" y="806488"/>
            <a:chExt cx="354760" cy="3349469"/>
          </a:xfrm>
        </p:grpSpPr>
        <p:pic>
          <p:nvPicPr>
            <p:cNvPr id="2054" name="Picture 6"/>
            <p:cNvPicPr>
              <a:picLocks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7237" y="806488"/>
              <a:ext cx="354758" cy="3349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" name="Straight Connector 7"/>
            <p:cNvCxnSpPr/>
            <p:nvPr/>
          </p:nvCxnSpPr>
          <p:spPr>
            <a:xfrm>
              <a:off x="837235" y="1109831"/>
              <a:ext cx="0" cy="2660199"/>
            </a:xfrm>
            <a:prstGeom prst="line">
              <a:avLst/>
            </a:prstGeom>
            <a:ln w="19050">
              <a:solidFill>
                <a:schemeClr val="tx1">
                  <a:alpha val="1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 userDrawn="1"/>
        </p:nvSpPr>
        <p:spPr>
          <a:xfrm flipH="1">
            <a:off x="13025535" y="12561275"/>
            <a:ext cx="634481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admin@aiistituteafrica.com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 flipH="1">
            <a:off x="17685169" y="12565025"/>
            <a:ext cx="634481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www.aiistituteafrica.com</a:t>
            </a:r>
            <a:endParaRPr lang="en-US" sz="2800" dirty="0">
              <a:solidFill>
                <a:srgbClr val="0070C0"/>
              </a:solidFill>
            </a:endParaRPr>
          </a:p>
        </p:txBody>
      </p:sp>
      <p:pic>
        <p:nvPicPr>
          <p:cNvPr id="10" name="Picture 9"/>
          <p:cNvPicPr/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08" y="4861467"/>
            <a:ext cx="2639827" cy="125246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5pPr>
      <a:lvl6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6pPr>
      <a:lvl7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7pPr>
      <a:lvl8pPr marL="2743200" algn="l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8pPr>
      <a:lvl9pPr marL="3657600" algn="l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457200" indent="-457200" algn="l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Font typeface="Arial" panose="020B07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7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7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588" y="3032666"/>
            <a:ext cx="11582400" cy="5161075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246506" y="753035"/>
            <a:ext cx="4497026" cy="11654118"/>
            <a:chOff x="16597000" y="627529"/>
            <a:chExt cx="4497026" cy="11654118"/>
          </a:xfrm>
        </p:grpSpPr>
        <p:sp>
          <p:nvSpPr>
            <p:cNvPr id="2" name="Rectangle: Rounded Corners 1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: Rounded Corners 2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309849" y="1211562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Vision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184" y="5124733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Purpose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82613" y="6165989"/>
            <a:ext cx="16291248" cy="158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b="1" dirty="0">
                <a:solidFill>
                  <a:schemeClr val="bg1">
                    <a:lumMod val="50000"/>
                  </a:schemeClr>
                </a:solidFill>
                <a:ea typeface="MS PGothic" pitchFamily="34" charset="-128"/>
              </a:rPr>
              <a:t>A non-profit Organisation that Promotes Advancement and Responsible use of AI to Benefit Humanity </a:t>
            </a:r>
            <a:endParaRPr lang="en-US" sz="3400" b="1" dirty="0">
              <a:solidFill>
                <a:schemeClr val="bg1">
                  <a:lumMod val="50000"/>
                </a:schemeClr>
              </a:solidFill>
              <a:ea typeface="MS PGothic" pitchFamily="34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59474" y="9644038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Values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59027" y="10428341"/>
            <a:ext cx="8121134" cy="7960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3400" b="1" dirty="0">
                <a:solidFill>
                  <a:schemeClr val="bg1">
                    <a:lumMod val="50000"/>
                  </a:schemeClr>
                </a:solidFill>
                <a:ea typeface="MS PGothic" pitchFamily="34" charset="-128"/>
              </a:rPr>
              <a:t>We value Innovation, Inclusivity  and  Ethics</a:t>
            </a:r>
            <a:endParaRPr lang="en-US" sz="3400" b="1" dirty="0">
              <a:solidFill>
                <a:schemeClr val="bg1">
                  <a:lumMod val="50000"/>
                </a:schemeClr>
              </a:solidFill>
              <a:ea typeface="MS PGothic" pitchFamily="34" charset="-128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7889684" y="1763454"/>
            <a:ext cx="8137526" cy="1210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5400" b="1" dirty="0"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AI for Better Lives</a:t>
            </a:r>
            <a:r>
              <a:rPr lang="en-US" altLang="en-US" sz="3600" b="1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 </a:t>
            </a:r>
            <a:endParaRPr lang="en-US" altLang="en-US" sz="3600" b="1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305179" y="3209366"/>
            <a:ext cx="4497026" cy="7468630"/>
            <a:chOff x="16597000" y="627529"/>
            <a:chExt cx="4497026" cy="11654118"/>
          </a:xfrm>
        </p:grpSpPr>
        <p:sp>
          <p:nvSpPr>
            <p:cNvPr id="5" name="Rectangle: Rounded Corners 4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3627461" y="4054292"/>
            <a:ext cx="19407674" cy="6977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Inspired by Government of Zimbabwe's National Development Strategy (NDS12) and Vison 2030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Inspired by SADC Vision 2050, African Union's Agenda 2063 and UN Sustainable Development Goals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Drawing inspiration from similar organizations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Recognizing the transformative potential of AI and other accelerating technologies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The  need for a unified national and continental voice and collective action </a:t>
            </a: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in AI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>
              <a:buFontTx/>
              <a:buChar char="-"/>
            </a:pPr>
            <a:endParaRPr lang="en-US" altLang="en-US" sz="3400" b="1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/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837" y="3620327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Background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74831" y="-57150"/>
            <a:ext cx="11784508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2438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400" b="1" i="0" u="none" strike="noStrike" kern="0" cap="none" spc="-30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itchFamily="2" charset="77"/>
                <a:ea typeface="MS PGothic" charset="0"/>
                <a:cs typeface="Poppins" pitchFamily="2" charset="77"/>
                <a:sym typeface="Canela Text Regular"/>
              </a:rPr>
              <a:t>Our </a:t>
            </a:r>
            <a:r>
              <a:rPr kumimoji="0" lang="en-US" sz="6400" b="0" i="0" u="none" strike="noStrike" kern="0" cap="none" spc="-30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itchFamily="2" charset="77"/>
                <a:ea typeface="MS PGothic" charset="0"/>
                <a:cs typeface="Poppins" pitchFamily="2" charset="77"/>
                <a:sym typeface="Canela Text Regular"/>
              </a:rPr>
              <a:t>Governance – </a:t>
            </a:r>
            <a:r>
              <a:rPr kumimoji="0" lang="en-US" sz="6400" b="0" i="0" u="none" strike="noStrike" kern="0" cap="none" spc="-30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itchFamily="2" charset="77"/>
                <a:ea typeface="MS PGothic" charset="0"/>
                <a:cs typeface="Poppins" pitchFamily="2" charset="77"/>
                <a:sym typeface="Canela Text Regular"/>
              </a:rPr>
              <a:t>Aiia</a:t>
            </a:r>
            <a:r>
              <a:rPr kumimoji="0" lang="en-US" sz="6400" b="0" i="0" u="none" strike="noStrike" kern="0" cap="none" spc="-30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 pitchFamily="2" charset="77"/>
                <a:ea typeface="MS PGothic" charset="0"/>
                <a:cs typeface="Poppins" pitchFamily="2" charset="77"/>
                <a:sym typeface="Canela Text Regular"/>
              </a:rPr>
              <a:t> Board  </a:t>
            </a:r>
            <a:endParaRPr kumimoji="0" lang="en-US" sz="6400" b="1" i="0" u="none" strike="noStrike" kern="0" cap="none" spc="-30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Poppins" pitchFamily="2" charset="77"/>
              <a:ea typeface="MS PGothic" charset="0"/>
              <a:cs typeface="Poppins" pitchFamily="2" charset="77"/>
              <a:sym typeface="Canela Text Regular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2217" y="8782252"/>
            <a:ext cx="2277035" cy="25442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342" y="711523"/>
            <a:ext cx="3254707" cy="29510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6546" y="4006103"/>
            <a:ext cx="2949196" cy="256054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055310" y="3717338"/>
            <a:ext cx="2273378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Dr Dennis Magaya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 </a:t>
            </a: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Chairperson</a:t>
            </a:r>
            <a:endParaRPr kumimoji="0" lang="en-US" sz="2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735" y="6857778"/>
            <a:ext cx="2499402" cy="100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Dr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Licky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Arastus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 (Namibia)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 Deputy Chairperson</a:t>
            </a:r>
            <a:endParaRPr kumimoji="0" lang="en-US" sz="220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150177" y="6871473"/>
            <a:ext cx="2435282" cy="100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Mr Cleopas Chiketa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200" dirty="0"/>
              <a:t>(Zimbabwe)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 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Deputy Chairperson</a:t>
            </a:r>
            <a:endParaRPr kumimoji="0" lang="en-US" sz="2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41798" y="11510317"/>
            <a:ext cx="2180405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Mr </a:t>
            </a:r>
            <a:r>
              <a:rPr lang="en-US" sz="2200" dirty="0"/>
              <a:t>R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obert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Rusike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Treasurer </a:t>
            </a:r>
            <a:endParaRPr kumimoji="0" lang="en-US" sz="2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9881" y="8781906"/>
            <a:ext cx="2859027" cy="274737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498" y="4173435"/>
            <a:ext cx="2949196" cy="225613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59304" y="8551826"/>
            <a:ext cx="2660155" cy="295834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055303" y="11510804"/>
            <a:ext cx="2311851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Mr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Konde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Bogingo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200" dirty="0"/>
              <a:t>(Rwanda)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8259163" y="11510170"/>
            <a:ext cx="2358338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Mr Bram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Fudzulani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  <a:p>
            <a:pPr marL="0" marR="0" lvl="0" indent="0" algn="ctr" defTabSz="2438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200" dirty="0"/>
              <a:t>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ela Text Regular"/>
                <a:sym typeface="Canela Text Regular"/>
              </a:rPr>
              <a:t>(Malawi)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ela Text Regular"/>
              <a:sym typeface="Canela Text Regula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000361" y="3161576"/>
            <a:ext cx="4497026" cy="8672407"/>
            <a:chOff x="16597000" y="627529"/>
            <a:chExt cx="4497026" cy="11654118"/>
          </a:xfrm>
        </p:grpSpPr>
        <p:sp>
          <p:nvSpPr>
            <p:cNvPr id="5" name="Rectangle: Rounded Corners 4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5668119" y="2962691"/>
            <a:ext cx="16477862" cy="907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Establish an AI think Tank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Contribute to AI Policy , Ethics and regulatory frameworks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Develop HR Capacity,  skills and literacy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Consultancy and advisory Services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Develop Data Sets and Algorithms for Africa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20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Foster Industry Collaboration, Networking and Knowledge Sharing in Africa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20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Promote responsible AI Innovation, research and development in the continent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hangingPunct="1">
              <a:buFontTx/>
              <a:buChar char="-"/>
            </a:pP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/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96714" y="2727611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Goals 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5332077" y="1985675"/>
            <a:ext cx="4497026" cy="9882468"/>
            <a:chOff x="16597000" y="627529"/>
            <a:chExt cx="4497026" cy="11654118"/>
          </a:xfrm>
        </p:grpSpPr>
        <p:sp>
          <p:nvSpPr>
            <p:cNvPr id="6" name="Rectangle: Rounded Corners 5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6299720" y="2061882"/>
            <a:ext cx="10991461" cy="10116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Mozambique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Tanzania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Egypt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Malawi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South Africa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Zimbabwe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Namibia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South Africa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>
              <a:buFontTx/>
              <a:buChar char="-"/>
            </a:pPr>
            <a:endParaRPr lang="en-US" altLang="en-US" sz="34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eaLnBrk="1" hangingPunct="1"/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58531" y="1006946"/>
            <a:ext cx="7268709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64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64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Reach </a:t>
            </a:r>
            <a:endParaRPr lang="en-US" sz="64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3252581" y="2061882"/>
            <a:ext cx="8077200" cy="10116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Ghana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Rwanda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Sierra Leone </a:t>
            </a:r>
            <a:endParaRPr lang="en-GB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Botswana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Kenya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Nigeria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 err="1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eSwathini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Mozambique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>
              <a:buFontTx/>
              <a:buChar char="-"/>
            </a:pPr>
            <a:endParaRPr lang="en-US" altLang="en-US" sz="34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eaLnBrk="1" hangingPunct="1"/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8958831" y="1476605"/>
            <a:ext cx="8137526" cy="9787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64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64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Partners </a:t>
            </a:r>
            <a:endParaRPr lang="en-US" sz="64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1306" y="3854637"/>
            <a:ext cx="4769026" cy="4488495"/>
          </a:xfrm>
          <a:prstGeom prst="rect">
            <a:avLst/>
          </a:prstGeom>
        </p:spPr>
      </p:pic>
      <p:pic>
        <p:nvPicPr>
          <p:cNvPr id="3" name="Picture 2" descr="rubiem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895" y="4522470"/>
            <a:ext cx="6799580" cy="3152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7971337" y="2813214"/>
            <a:ext cx="4497026" cy="8087620"/>
            <a:chOff x="16597000" y="627529"/>
            <a:chExt cx="4497026" cy="11654118"/>
          </a:xfrm>
        </p:grpSpPr>
        <p:sp>
          <p:nvSpPr>
            <p:cNvPr id="7" name="Rectangle: Rounded Corners 6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6412664" y="3247178"/>
            <a:ext cx="12153900" cy="7171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AI Policy , Strategy and Ethics Advisory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Training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Research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Consultancy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AI Solutions Innovation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/>
            <a:r>
              <a:rPr lang="en-US" altLang="en-US" sz="3200" dirty="0">
                <a:solidFill>
                  <a:srgbClr val="00000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   </a:t>
            </a:r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eaLnBrk="1" hangingPunct="1">
              <a:buFontTx/>
              <a:buChar char="-"/>
            </a:pP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0965" y="2813213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Services</a:t>
            </a: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7701174" y="3532094"/>
            <a:ext cx="4497026" cy="8247530"/>
            <a:chOff x="16597000" y="627529"/>
            <a:chExt cx="4497026" cy="11654118"/>
          </a:xfrm>
        </p:grpSpPr>
        <p:sp>
          <p:nvSpPr>
            <p:cNvPr id="7" name="Rectangle: Rounded Corners 6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7192811" y="4558163"/>
            <a:ext cx="12153900" cy="866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Student Member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Member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Fellow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Intuitional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en-US" sz="3400" dirty="0">
              <a:solidFill>
                <a:srgbClr val="000000"/>
              </a:solidFill>
              <a:latin typeface="Poppins" pitchFamily="2" charset="77"/>
              <a:cs typeface="Poppins" pitchFamily="2" charset="77"/>
            </a:endParaRPr>
          </a:p>
          <a:p>
            <a:pPr eaLnBrk="1" hangingPunct="1">
              <a:buFontTx/>
              <a:buChar char="-"/>
            </a:pPr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eaLnBrk="1" hangingPunct="1"/>
            <a:r>
              <a:rPr lang="en-US" altLang="en-US" sz="3200" dirty="0">
                <a:solidFill>
                  <a:srgbClr val="00000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   </a:t>
            </a:r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eaLnBrk="1" hangingPunct="1">
              <a:buFontTx/>
              <a:buChar char="-"/>
            </a:pP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11080" y="3962399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Membership</a:t>
            </a: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135375" y="2330825"/>
            <a:ext cx="4497026" cy="9542106"/>
            <a:chOff x="16597000" y="627529"/>
            <a:chExt cx="4497026" cy="11654118"/>
          </a:xfrm>
        </p:grpSpPr>
        <p:sp>
          <p:nvSpPr>
            <p:cNvPr id="5" name="Rectangle: Rounded Corners 4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5310222" y="3959099"/>
            <a:ext cx="12212668" cy="707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AI Training or Certification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Access to attachment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Mentorship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Networking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Discount on AI products and services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Provide Consultancy or Training Services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Participate in AI stakeholder Engagements or Collaborations 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 Speak at Conferences and Events</a:t>
            </a:r>
            <a:endParaRPr lang="en-GB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 Branding , Marking and Sales </a:t>
            </a: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65954" y="2682207"/>
            <a:ext cx="10894507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Membership Benefits</a:t>
            </a: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charset="0"/>
                <a:cs typeface="Poppins" pitchFamily="2" charset="77"/>
              </a:rPr>
              <a:t>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4780" y="365125"/>
            <a:ext cx="20022820" cy="2174875"/>
          </a:xfrm>
        </p:spPr>
        <p:txBody>
          <a:bodyPr/>
          <a:p>
            <a:r>
              <a:rPr lang="en-US" sz="5800" b="1">
                <a:solidFill>
                  <a:schemeClr val="accent1"/>
                </a:solidFill>
              </a:rPr>
              <a:t>RIFTS-X - Records Intelligence &amp; File Tracking System X</a:t>
            </a:r>
            <a:endParaRPr lang="en-US" sz="58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3545" y="2169160"/>
            <a:ext cx="19744055" cy="10184765"/>
          </a:xfrm>
        </p:spPr>
        <p:txBody>
          <a:bodyPr/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A unified platform combining: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Physical file tracking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Document cloud storage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Scanner integration &amp; OCR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Project governance tools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Executive intelligence dashboardsFeatures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Core Platform </a:t>
            </a: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  <a:sym typeface="+mn-ea"/>
              </a:rPr>
              <a:t>Features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Document Cloud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Scanner &amp; OCR Engine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Physical File Custody Tracking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Project Governance Module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Alerts &amp; Escalation Engine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Executive Intelligence Dashboard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" charset="0"/>
                <a:ea typeface="Arial Unicode MS" panose="020B0604020202020204" charset="-122"/>
                <a:cs typeface="Al Bayan" charset="0"/>
              </a:rPr>
              <a:t>Risk &amp; Compliance Engine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" charset="0"/>
              <a:ea typeface="Arial Unicode MS" panose="020B0604020202020204" charset="-122"/>
              <a:cs typeface="Al Bayan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205" y="730250"/>
            <a:ext cx="19289395" cy="2103120"/>
          </a:xfrm>
        </p:spPr>
        <p:txBody>
          <a:bodyPr/>
          <a:p>
            <a:r>
              <a:rPr lang="en-US" sz="60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Cognify </a:t>
            </a:r>
            <a:endParaRPr lang="en-US" sz="60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8205" y="2832735"/>
            <a:ext cx="19289395" cy="9521190"/>
          </a:xfrm>
        </p:spPr>
        <p:txBody>
          <a:bodyPr/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AI-powered optimization and intelligence system designed to improve learning using multi-modal, multi-language, avatar-based, KTCE among other ways of learning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How Cognify Helps Organisations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Cognify’s optimisation power extends across organisational use cases: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Business &amp; Enterprise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Efficient AI Integrations: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Improves internal AI workflows (e.g., automated reporting, knowledge summaries, customer support bots).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Cost-Smart AI Deployments: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Reduces cloud/compute bills by choosing optimized execution plans.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Higher Output Quality: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Better results from workflows that combine multiple AI steps (e.g., data retrieval → reasoning → answer generation).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9500" y="730250"/>
            <a:ext cx="19088100" cy="2651125"/>
          </a:xfrm>
        </p:spPr>
        <p:txBody>
          <a:bodyPr/>
          <a:p>
            <a:r>
              <a:rPr lang="en-US" sz="60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ADRS Solution</a:t>
            </a:r>
            <a:endParaRPr lang="en-US" sz="60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4065" y="3651250"/>
            <a:ext cx="19393535" cy="8702675"/>
          </a:xfrm>
        </p:spPr>
        <p:txBody>
          <a:bodyPr/>
          <a:p>
            <a:r>
              <a:rPr lang="en-US" altLang="en-US" sz="3200"/>
              <a:t> The AI Data Readiness System (ADRS) transforms that raw information into trusted, AI-ready data.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Using advanced AI extraction models, ADRS automatically reads documents, extracts key information, and organizes it into structured records. A human validation workflow ensures accuracy, while every data point remains fully traceable to its original evidence document for governance and compliance.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The system then produces AI-ready datasets that can power three critical capabilities: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Machine Learning model training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RAG / LLM systems for intelligent search and question answering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Knowledge Graphs for relationship intelligence and decision support</a:t>
            </a:r>
            <a:endParaRPr lang="en-US" altLang="en-US"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1510" y="730250"/>
            <a:ext cx="19516090" cy="2651125"/>
          </a:xfrm>
        </p:spPr>
        <p:txBody>
          <a:bodyPr/>
          <a:p>
            <a:r>
              <a:rPr lang="en-US" sz="6000" b="1">
                <a:solidFill>
                  <a:schemeClr val="accent1"/>
                </a:solidFill>
              </a:rPr>
              <a:t>AI TRAINING</a:t>
            </a:r>
            <a:endParaRPr lang="en-US" sz="60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1510" y="2767330"/>
            <a:ext cx="19516090" cy="9586595"/>
          </a:xfrm>
        </p:spPr>
        <p:txBody>
          <a:bodyPr/>
          <a:p>
            <a:pPr marL="0" indent="0">
              <a:buNone/>
            </a:pPr>
            <a:r>
              <a:rPr lang="en-US" altLang="en-US" sz="36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Core Program Tracks</a:t>
            </a:r>
            <a:endParaRPr lang="en-US" altLang="en-US" sz="36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Foundational &amp; Career Programs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3-Day Intensive Course – Quick introduction to AI fundamentals.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6-Month Professional Course – Comprehensive training for practical AI skills.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12-Month Advanced Diploma – Deep professional certification.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6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Leadership &amp; Role-Based Courses</a:t>
            </a:r>
            <a:endParaRPr lang="en-US" altLang="en-US" sz="36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Master AI for Directors – Short course for board members and C-suite.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Master AI for Executives – Targeted at senior leaders.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Master AI for Professionals – Professional development.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6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Applied AI for Business Professionals – Practical AI use for roles like banking and finance.</a:t>
            </a:r>
            <a:endParaRPr lang="en-US" altLang="en-US" sz="36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1510" y="730250"/>
            <a:ext cx="19516090" cy="2651125"/>
          </a:xfrm>
        </p:spPr>
        <p:txBody>
          <a:bodyPr/>
          <a:p>
            <a:r>
              <a:rPr lang="en-US" altLang="en-US" sz="5800" b="1">
                <a:solidFill>
                  <a:schemeClr val="accent1"/>
                </a:solidFill>
                <a:sym typeface="+mn-ea"/>
              </a:rPr>
              <a:t>AI Institute Africa – 2026 National &amp; Sector Summits</a:t>
            </a:r>
            <a:endParaRPr lang="en-US" altLang="en-US" sz="5800" b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0875" y="3095625"/>
            <a:ext cx="19516725" cy="9258300"/>
          </a:xfrm>
        </p:spPr>
        <p:txBody>
          <a:bodyPr/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Tech Forum Zimbabwe 2026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Theme: Mastering AI Systems: Building Zimbabwe’s Intelligence Edge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zh-CN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📍</a:t>
            </a: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 May 2026 | Nyanga</a:t>
            </a:r>
            <a:b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</a:b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Focus Areas: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Applications, Models &amp; Frameworks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Machine Learning &amp; Deep Learning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Infrastructure (Compute, Storage, Cloud)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Performance, Optimisation &amp; Scalability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Research Collaboration &amp; Data Readiness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Audience: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Researchers, engineers, AI specialists, government tech leaders, startups, innovators.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0075" y="730250"/>
            <a:ext cx="19567525" cy="2651125"/>
          </a:xfrm>
        </p:spPr>
        <p:txBody>
          <a:bodyPr/>
          <a:p>
            <a:r>
              <a:rPr lang="en-US" sz="5800" b="1">
                <a:solidFill>
                  <a:schemeClr val="accent1"/>
                </a:solidFill>
              </a:rPr>
              <a:t>CONT.</a:t>
            </a:r>
            <a:endParaRPr lang="en-US" sz="58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0075" y="3044825"/>
            <a:ext cx="19567525" cy="9309100"/>
          </a:xfrm>
        </p:spPr>
        <p:txBody>
          <a:bodyPr/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Zimbabwe 2.0 – AI for National Transformation 2026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Theme: Intelligence as National Infrastructure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zh-CN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📍</a:t>
            </a: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 May 2026 | Nyanga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Focus Areas: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for Government &amp; Judiciary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for Socio-Economic Development (Vision 2030 / NDS2)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Infrastructure &amp; Regional Integration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Investment, Innovation &amp; Financing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Ethics, Governance, Privacy &amp; Cybersecurity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Audience: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Government leaders, regulators, business executives, academia, startups, development partners.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8480" y="730250"/>
            <a:ext cx="19629120" cy="2651125"/>
          </a:xfrm>
        </p:spPr>
        <p:txBody>
          <a:bodyPr/>
          <a:p>
            <a:r>
              <a:rPr lang="en-US" sz="5800" b="1">
                <a:solidFill>
                  <a:schemeClr val="accent1"/>
                </a:solidFill>
              </a:rPr>
              <a:t>CONT.</a:t>
            </a:r>
            <a:endParaRPr lang="en-US" sz="58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2475" y="2893695"/>
            <a:ext cx="19415125" cy="9460230"/>
          </a:xfrm>
        </p:spPr>
        <p:txBody>
          <a:bodyPr/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Africa Summit 2026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Theme: Africa 2.0: Ubuntu Algorithms for AI-Augmented Transformation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zh-CN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📍</a:t>
            </a: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 August 2026 | Victoria Falls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" charset="0"/>
                <a:cs typeface="Al Bayan" charset="0"/>
              </a:rPr>
              <a:t>Focus Areas: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" charset="0"/>
              <a:cs typeface="Al Baya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National AI Policy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 in Mining, Energy, Agriculture &amp; Healthcare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AI-Driven Economy &amp; Funding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Digital Infrastructure &amp; Cybersecurity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Data Ethics &amp; Policy Harmonisation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Audience: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</a:rPr>
              <a:t>Governments, investors, AI engineers, industry leaders, academia, regional &amp; international institutions.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7980" y="730250"/>
            <a:ext cx="19819620" cy="2651125"/>
          </a:xfrm>
        </p:spPr>
        <p:txBody>
          <a:bodyPr/>
          <a:p>
            <a:r>
              <a:rPr lang="en-US" sz="5800" b="1">
                <a:solidFill>
                  <a:schemeClr val="accent1"/>
                </a:solidFill>
              </a:rPr>
              <a:t>CONT.</a:t>
            </a:r>
            <a:endParaRPr lang="en-US" sz="58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6465" y="2817495"/>
            <a:ext cx="19241135" cy="9536430"/>
          </a:xfrm>
        </p:spPr>
        <p:txBody>
          <a:bodyPr/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AI Education Africa 2026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Theme: Transforming Education Through AI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zh-CN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📍</a:t>
            </a:r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 October 2026 | Harare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Focus Areas: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AI in Primary, Secondary &amp; Tertiary Education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AI for Teachers &amp; Learners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Future Skills &amp; Jobs</a:t>
            </a:r>
            <a:endParaRPr lang="en-US" altLang="en-US" sz="3400" b="1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Data Governance &amp; Ethics in Education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EdTech Innovation &amp; Regional Collaboration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Audience: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r>
              <a:rPr lang="en-US" altLang="en-US" sz="3400">
                <a:solidFill>
                  <a:schemeClr val="bg1">
                    <a:lumMod val="50000"/>
                  </a:schemeClr>
                </a:solidFill>
                <a:latin typeface="Al Bayan Plain" charset="0"/>
                <a:cs typeface="Al Bayan Plain" charset="0"/>
                <a:sym typeface="+mn-ea"/>
              </a:rPr>
              <a:t>Schools, universities, regulators, researchers, students, EdTech startups, investors, development agencies.</a:t>
            </a: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  <a:p>
            <a:pPr marL="0" indent="0">
              <a:buNone/>
            </a:pPr>
            <a:endParaRPr lang="en-US" altLang="en-US" sz="3400">
              <a:solidFill>
                <a:schemeClr val="bg1">
                  <a:lumMod val="50000"/>
                </a:schemeClr>
              </a:solidFill>
              <a:latin typeface="Al Bayan Plain" charset="0"/>
              <a:cs typeface="Al Bayan Plain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550" y="384110"/>
            <a:ext cx="8947150" cy="1206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15"/>
          <p:cNvSpPr txBox="1">
            <a:spLocks noChangeArrowheads="1"/>
          </p:cNvSpPr>
          <p:nvPr/>
        </p:nvSpPr>
        <p:spPr bwMode="auto">
          <a:xfrm flipH="1">
            <a:off x="13341700" y="1616630"/>
            <a:ext cx="9926916" cy="512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MS PGothic" pitchFamily="34" charset="-128"/>
              </a:defRPr>
            </a:lvl9pPr>
          </a:lstStyle>
          <a:p>
            <a:endParaRPr lang="en-US" altLang="en-US" sz="4000" b="1" dirty="0">
              <a:solidFill>
                <a:srgbClr val="00B050"/>
              </a:solidFill>
            </a:endParaRPr>
          </a:p>
        </p:txBody>
      </p:sp>
      <p:pic>
        <p:nvPicPr>
          <p:cNvPr id="4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704798" y="2320475"/>
            <a:ext cx="601290" cy="703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4798" y="3495060"/>
            <a:ext cx="800271" cy="70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5505069" y="2191943"/>
            <a:ext cx="8058438" cy="14219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Admin@aiinstituteafrica.com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715691" y="3341854"/>
            <a:ext cx="7159171" cy="14219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www.aiinstituteafrica.com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143195" y="9008172"/>
            <a:ext cx="6323925" cy="14219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275 Hebert Chitepo Ave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Harare , Zimbabwe 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48653" y="4516906"/>
            <a:ext cx="5523032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@aiinstituteafri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3347" y="5666817"/>
            <a:ext cx="7159171" cy="7571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LinkedIn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911638" y="6948417"/>
            <a:ext cx="7159171" cy="7571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Facebook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5975</Words>
  <Application>WPS Sheets</Application>
  <PresentationFormat>Custom</PresentationFormat>
  <Paragraphs>255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53" baseType="lpstr">
      <vt:lpstr>Arial</vt:lpstr>
      <vt:lpstr>SimSun</vt:lpstr>
      <vt:lpstr>Wingdings</vt:lpstr>
      <vt:lpstr>Canela Text Regular</vt:lpstr>
      <vt:lpstr>Thonburi</vt:lpstr>
      <vt:lpstr>Graphik</vt:lpstr>
      <vt:lpstr>Canela Bold</vt:lpstr>
      <vt:lpstr>Graphik Semibold</vt:lpstr>
      <vt:lpstr>Graphik Medium</vt:lpstr>
      <vt:lpstr>Canela Deck Regular</vt:lpstr>
      <vt:lpstr>Canela Regular</vt:lpstr>
      <vt:lpstr>Calibri Light</vt:lpstr>
      <vt:lpstr>Helvetica Neue</vt:lpstr>
      <vt:lpstr>MS PGothic</vt:lpstr>
      <vt:lpstr>冬青黑体简体中文</vt:lpstr>
      <vt:lpstr>Helvetica Neue</vt:lpstr>
      <vt:lpstr>Poppins</vt:lpstr>
      <vt:lpstr>MS PGothic</vt:lpstr>
      <vt:lpstr>Calibri</vt:lpstr>
      <vt:lpstr>Al Bayan Plain</vt:lpstr>
      <vt:lpstr>Arial Unicode MS</vt:lpstr>
      <vt:lpstr>Al Bayan</vt:lpstr>
      <vt:lpstr>Microsoft YaHei</vt:lpstr>
      <vt:lpstr>汉仪旗黑</vt:lpstr>
      <vt:lpstr>苹方-简</vt:lpstr>
      <vt:lpstr>SimSun</vt:lpstr>
      <vt:lpstr>宋体-简</vt:lpstr>
      <vt:lpstr>Canela Bold</vt:lpstr>
      <vt:lpstr>Canela Text Regular</vt:lpstr>
      <vt:lpstr>Poppins</vt:lpstr>
      <vt:lpstr>pplxSerif</vt:lpstr>
      <vt:lpstr>Apple Color Emoji</vt:lpstr>
      <vt:lpstr>23_ClassicWhite</vt:lpstr>
      <vt:lpstr>Custom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RIFTS-X - Records Intelligence &amp; File Tracking System X</vt:lpstr>
      <vt:lpstr>Cognify </vt:lpstr>
      <vt:lpstr>PowerPoint 演示文稿</vt:lpstr>
      <vt:lpstr>AI TRAINING</vt:lpstr>
      <vt:lpstr>AI Institute Africa – 2026 National &amp; Sector Summits</vt:lpstr>
      <vt:lpstr>CONT.</vt:lpstr>
      <vt:lpstr>CONT.</vt:lpstr>
      <vt:lpstr>CONT.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leverage  trends in the market place</dc:title>
  <dc:creator>NPA13</dc:creator>
  <cp:lastModifiedBy>patiencemupikeni</cp:lastModifiedBy>
  <cp:revision>359</cp:revision>
  <dcterms:created xsi:type="dcterms:W3CDTF">2026-03-10T12:31:07Z</dcterms:created>
  <dcterms:modified xsi:type="dcterms:W3CDTF">2026-03-10T12:31:07Z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EDE92598B585E2DCF4A69C696764F974_43</vt:lpwstr>
  </property>
  <property fmtid="{D5CDD505-2E9C-101B-9397-08002B2CF9AE}" pid="3" name="KSOProductBuildVer">
    <vt:lpwstr>1033-12.1.23153.23153</vt:lpwstr>
  </property>
</Properties>
</file>