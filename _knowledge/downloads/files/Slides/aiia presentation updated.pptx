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handoutMasterIdLst>
    <p:handoutMasterId r:id="rId23"/>
  </p:handoutMasterIdLst>
  <p:sldIdLst>
    <p:sldId id="11826036" r:id="rId4"/>
    <p:sldId id="11826052" r:id="rId6"/>
    <p:sldId id="11826053" r:id="rId7"/>
    <p:sldId id="11826055" r:id="rId8"/>
    <p:sldId id="11826067" r:id="rId9"/>
    <p:sldId id="11826110" r:id="rId10"/>
    <p:sldId id="11826056" r:id="rId11"/>
    <p:sldId id="11826063" r:id="rId12"/>
    <p:sldId id="11826064" r:id="rId13"/>
    <p:sldId id="11826536" r:id="rId14"/>
    <p:sldId id="11826533" r:id="rId15"/>
    <p:sldId id="11826537" r:id="rId16"/>
    <p:sldId id="11826526" r:id="rId17"/>
    <p:sldId id="11826528" r:id="rId18"/>
    <p:sldId id="11826529" r:id="rId19"/>
    <p:sldId id="11826530" r:id="rId20"/>
    <p:sldId id="11826531" r:id="rId21"/>
    <p:sldId id="11826066" r:id="rId2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 magaya" initials="dm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08" autoAdjust="0"/>
  </p:normalViewPr>
  <p:slideViewPr>
    <p:cSldViewPr snapToGrid="0">
      <p:cViewPr varScale="1">
        <p:scale>
          <a:sx n="43" d="100"/>
          <a:sy n="43" d="100"/>
        </p:scale>
        <p:origin x="562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2827"/>
    </p:cViewPr>
  </p:sorterViewPr>
  <p:notesViewPr>
    <p:cSldViewPr snapToGrid="0">
      <p:cViewPr varScale="1">
        <p:scale>
          <a:sx n="56" d="100"/>
          <a:sy n="56" d="100"/>
        </p:scale>
        <p:origin x="285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0E447-6A9A-4C6D-859D-973580516B61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B306D-2225-4D18-A524-5A93C289B6F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2F59FB1-F58B-EF4F-8835-9E3EC9E82B29}" type="slidenum">
              <a:rPr kumimoji="0" lang="en-US" sz="120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</a:fld>
            <a:endParaRPr kumimoji="0" lang="en-US" sz="12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740519873_3318x2212.jpg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z="12800" spc="-128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r>
              <a:t>Presentation Subtitle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4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3000" spc="-29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t>Author and Date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3" name="Image"/>
          <p:cNvSpPr>
            <a:spLocks noGrp="1"/>
          </p:cNvSpPr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r>
              <a:t>Slide Subtitle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4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1" name="Image"/>
          <p:cNvSpPr>
            <a:spLocks noGrp="1"/>
          </p:cNvSpPr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62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z="12800" spc="0"/>
            </a:lvl1pPr>
          </a:lstStyle>
          <a:p>
            <a:r>
              <a:t>Section Title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r>
              <a:t>Agenda Topics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0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Agenda Subtitle</a:t>
            </a:r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r>
              <a:t>Statement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Fact information</a:t>
            </a:r>
          </a:p>
        </p:txBody>
      </p:sp>
      <p:sp>
        <p:nvSpPr>
          <p:cNvPr id="10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100%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“Notable Quote”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941297804_1296x1457.jpg"/>
          <p:cNvSpPr>
            <a:spLocks noGrp="1"/>
          </p:cNvSpPr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5" name="915009552_2264x1509.jpg"/>
          <p:cNvSpPr>
            <a:spLocks noGrp="1"/>
          </p:cNvSpPr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6" name="740519873_3318x2212.jpg"/>
          <p:cNvSpPr>
            <a:spLocks noGrp="1"/>
          </p:cNvSpPr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8205" y="13076012"/>
            <a:ext cx="375103" cy="379591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F6ECC061-3EDE-431E-B386-C6C6D49071CC}" type="datetimeFigureOut">
              <a:rPr lang="en-ZA"/>
            </a:fld>
            <a:endParaRPr lang="en-ZA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6EC22206-9579-4310-A2D1-AD216AC0CBD3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69C57217-5A5A-4915-B17C-71538460A3E5}" type="datetimeFigureOut">
              <a:rPr lang="en-ZA"/>
            </a:fld>
            <a:endParaRPr lang="en-ZA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AE500F0B-4E29-498D-B254-1B4B7BC73383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3C1EF800-28FD-4DA7-9D2F-CE3E13278138}" type="datetimeFigureOut">
              <a:rPr lang="en-ZA"/>
            </a:fld>
            <a:endParaRPr lang="en-ZA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7C929573-7B65-4386-B704-5E3C36463A75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</p:spPr>
        <p:txBody>
          <a:bodyPr rtlCol="0">
            <a:normAutofit/>
          </a:bodyPr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pPr lvl="0"/>
            <a:endParaRPr lang="en-ZA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0AEB213F-4085-4373-A56A-7CA69FE40D41}" type="datetimeFigureOut">
              <a:rPr lang="en-ZA"/>
            </a:fld>
            <a:endParaRPr lang="en-ZA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6183A28A-951E-484D-8567-447DE9781EE2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578DF364-EE3B-4822-8050-0ABC3103ECF3}" type="datetimeFigureOut">
              <a:rPr lang="en-ZA"/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3EE4E57C-0E5A-490C-8290-7DBB948446DD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1FDFFB2C-92A3-40C7-9B23-6312B4D75319}" type="datetimeFigureOut">
              <a:rPr lang="en-ZA"/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>
            <a:lvl1pPr>
              <a:defRPr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mtClean="0">
                <a:ea typeface="MS PGothic" panose="020B0600070205080204" pitchFamily="34" charset="-128"/>
              </a:defRPr>
            </a:lvl1pPr>
          </a:lstStyle>
          <a:p>
            <a:pPr>
              <a:defRPr/>
            </a:pPr>
            <a:fld id="{A294B9C0-5B6B-449C-9ABF-6F4CC7893087}" type="slidenum">
              <a:rPr lang="en-ZA" altLang="en-US"/>
            </a:fld>
            <a:endParaRPr lang="en-ZA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hyperlink" Target="mailto:dennis@rubiem.com" TargetMode="Externa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image" Target="../media/image3.png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lnSpc>
                <a:spcPct val="100000"/>
              </a:lnSpc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Picture 11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44" y="2802708"/>
            <a:ext cx="3328853" cy="1210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17116077" y="12861495"/>
            <a:ext cx="6957354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+263 71 777 0666, </a:t>
            </a:r>
            <a:r>
              <a:rPr lang="en-US" sz="3200" b="1" dirty="0">
                <a:hlinkClick r:id="rId15"/>
              </a:rPr>
              <a:t>dennis@rubiem.com</a:t>
            </a:r>
            <a:r>
              <a:rPr lang="en-US" sz="3200" b="1" dirty="0"/>
              <a:t> </a:t>
            </a:r>
            <a:endParaRPr lang="en-US" sz="3200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400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1676400" y="730251"/>
            <a:ext cx="21031200" cy="2651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ZA" altLang="en-US"/>
          </a:p>
        </p:txBody>
      </p:sp>
      <p:sp>
        <p:nvSpPr>
          <p:cNvPr id="2051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76400" y="3651250"/>
            <a:ext cx="21031200" cy="8702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ZA" altLang="en-US"/>
          </a:p>
        </p:txBody>
      </p:sp>
      <p:grpSp>
        <p:nvGrpSpPr>
          <p:cNvPr id="2053" name="Group 5"/>
          <p:cNvGrpSpPr/>
          <p:nvPr userDrawn="1"/>
        </p:nvGrpSpPr>
        <p:grpSpPr bwMode="auto">
          <a:xfrm flipH="1">
            <a:off x="23675976" y="6623050"/>
            <a:ext cx="708024" cy="6696076"/>
            <a:chOff x="837235" y="806488"/>
            <a:chExt cx="354760" cy="3349469"/>
          </a:xfrm>
        </p:grpSpPr>
        <p:pic>
          <p:nvPicPr>
            <p:cNvPr id="2054" name="Picture 6"/>
            <p:cNvPicPr>
              <a:picLocks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7237" y="806488"/>
              <a:ext cx="354758" cy="3349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8" name="Straight Connector 7"/>
            <p:cNvCxnSpPr/>
            <p:nvPr/>
          </p:nvCxnSpPr>
          <p:spPr>
            <a:xfrm>
              <a:off x="837235" y="1109831"/>
              <a:ext cx="0" cy="2660199"/>
            </a:xfrm>
            <a:prstGeom prst="line">
              <a:avLst/>
            </a:prstGeom>
            <a:ln w="19050">
              <a:solidFill>
                <a:schemeClr val="tx1">
                  <a:alpha val="1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 userDrawn="1"/>
        </p:nvSpPr>
        <p:spPr>
          <a:xfrm flipH="1">
            <a:off x="13025535" y="12561275"/>
            <a:ext cx="634481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admin@aiistituteafrica.com</a:t>
            </a:r>
            <a:endParaRPr lang="en-US" sz="2800" dirty="0">
              <a:solidFill>
                <a:srgbClr val="0070C0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 flipH="1">
            <a:off x="17685169" y="12565025"/>
            <a:ext cx="6344817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www.aiistituteafrica.com</a:t>
            </a:r>
            <a:endParaRPr lang="en-US" sz="2800" dirty="0">
              <a:solidFill>
                <a:srgbClr val="0070C0"/>
              </a:solidFill>
            </a:endParaRPr>
          </a:p>
        </p:txBody>
      </p:sp>
      <p:pic>
        <p:nvPicPr>
          <p:cNvPr id="10" name="Picture 9"/>
          <p:cNvPicPr/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08" y="4861467"/>
            <a:ext cx="2639827" cy="1252462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5pPr>
      <a:lvl6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6pPr>
      <a:lvl7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7pPr>
      <a:lvl8pPr marL="2743200" algn="l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8pPr>
      <a:lvl9pPr marL="3657600" algn="l" rtl="0" fontAlgn="base">
        <a:lnSpc>
          <a:spcPct val="90000"/>
        </a:lnSpc>
        <a:spcBef>
          <a:spcPct val="0"/>
        </a:spcBef>
        <a:spcAft>
          <a:spcPct val="0"/>
        </a:spcAft>
        <a:defRPr sz="88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457200" indent="-457200" algn="l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588" y="3032666"/>
            <a:ext cx="11582400" cy="5161075"/>
          </a:xfrm>
          <a:prstGeom prst="rect">
            <a:avLst/>
          </a:prstGeom>
          <a:noFill/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246506" y="753035"/>
            <a:ext cx="4497026" cy="11654118"/>
            <a:chOff x="16597000" y="627529"/>
            <a:chExt cx="4497026" cy="11654118"/>
          </a:xfrm>
        </p:grpSpPr>
        <p:sp>
          <p:nvSpPr>
            <p:cNvPr id="2" name="Rectangle: Rounded Corners 1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: Rounded Corners 2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309849" y="1211562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Vision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184" y="5124733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Purpose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82613" y="6165989"/>
            <a:ext cx="16291248" cy="158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400" b="1" dirty="0">
                <a:solidFill>
                  <a:schemeClr val="bg1">
                    <a:lumMod val="50000"/>
                  </a:schemeClr>
                </a:solidFill>
                <a:ea typeface="MS PGothic" panose="020B0600070205080204" pitchFamily="34" charset="-128"/>
              </a:rPr>
              <a:t>A non-profit Organisation that Promotes Advancement and Responsible use of AI to Benefit Humanity </a:t>
            </a:r>
            <a:endParaRPr lang="en-US" sz="3400" b="1" dirty="0">
              <a:solidFill>
                <a:schemeClr val="bg1">
                  <a:lumMod val="50000"/>
                </a:schemeClr>
              </a:solidFill>
              <a:ea typeface="MS PGothic" panose="020B0600070205080204" pitchFamily="34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59474" y="9644038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Values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859027" y="10428341"/>
            <a:ext cx="8121134" cy="7960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US" sz="3400" b="1" dirty="0">
                <a:solidFill>
                  <a:schemeClr val="bg1">
                    <a:lumMod val="50000"/>
                  </a:schemeClr>
                </a:solidFill>
                <a:ea typeface="MS PGothic" panose="020B0600070205080204" pitchFamily="34" charset="-128"/>
              </a:rPr>
              <a:t>We value Innovation, Inclusivity  and  Ethics</a:t>
            </a:r>
            <a:endParaRPr lang="en-US" sz="3400" b="1" dirty="0">
              <a:solidFill>
                <a:schemeClr val="bg1">
                  <a:lumMod val="50000"/>
                </a:schemeClr>
              </a:solidFill>
              <a:ea typeface="MS PGothic" panose="020B0600070205080204" pitchFamily="34" charset="-128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7889684" y="1763454"/>
            <a:ext cx="8137526" cy="12100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5400" b="1" dirty="0"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AI for Better Lives</a:t>
            </a:r>
            <a:r>
              <a:rPr lang="en-US" altLang="en-US" sz="3600" b="1" dirty="0">
                <a:solidFill>
                  <a:schemeClr val="bg1">
                    <a:lumMod val="50000"/>
                  </a:schemeClr>
                </a:solidFill>
                <a:latin typeface="Canela Text Regular"/>
              </a:rPr>
              <a:t> </a:t>
            </a:r>
            <a:endParaRPr lang="en-US" altLang="en-US" sz="3600" b="1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305179" y="3209366"/>
            <a:ext cx="4497026" cy="7468630"/>
            <a:chOff x="16597000" y="627529"/>
            <a:chExt cx="4497026" cy="11654118"/>
          </a:xfrm>
        </p:grpSpPr>
        <p:sp>
          <p:nvSpPr>
            <p:cNvPr id="5" name="Rectangle: Rounded Corners 4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3148965" y="3859530"/>
            <a:ext cx="19886295" cy="9291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Inspired by Government of Zimbabwe's National Development Strategy (NDS12) and Vison 2030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Inspired by SADC Vision 2050, African Union's Agenda 2063 and UN Sustainable Development Goals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Drawing inspiration from similar organizations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Recognizing the transformative potential of AI and other accelerating technologies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The  need for a unified national and continental voice and collective action </a:t>
            </a:r>
            <a:r>
              <a:rPr lang="en-US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in AI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eaLnBrk="1" hangingPunct="1">
              <a:buFontTx/>
              <a:buChar char="-"/>
            </a:pPr>
            <a:endParaRPr lang="en-US" altLang="en-US" sz="3400" b="1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eaLnBrk="1" hangingPunct="1"/>
            <a:endParaRPr lang="en-US" altLang="en-US" sz="3400" b="1" dirty="0">
              <a:solidFill>
                <a:schemeClr val="tx1"/>
              </a:solidFill>
              <a:latin typeface="Bahnschrift" panose="020B0502040204020203" charset="0"/>
              <a:ea typeface="Calibri" panose="020F0502020204030204" pitchFamily="34" charset="0"/>
              <a:cs typeface="Bahnschrift" panose="020B0502040204020203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837" y="3620327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Background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000361" y="3161576"/>
            <a:ext cx="4497026" cy="8672407"/>
            <a:chOff x="16597000" y="627529"/>
            <a:chExt cx="4497026" cy="11654118"/>
          </a:xfrm>
        </p:grpSpPr>
        <p:sp>
          <p:nvSpPr>
            <p:cNvPr id="5" name="Rectangle: Rounded Corners 4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5668119" y="2962691"/>
            <a:ext cx="16477862" cy="1011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Establish an AI think Tank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Contribute to AI Policy , Ethics and regulatory frameworks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Develop HR Capacity,  skills and literacy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Consultancy and advisory Services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Develop Data Sets and Algorithms for Africa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lvl="1" algn="l" hangingPunct="1">
              <a:lnSpc>
                <a:spcPct val="20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Foster Industry Collaboration, Networking and Knowledge Sharing in Africa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lvl="1" algn="l" hangingPunct="1">
              <a:lnSpc>
                <a:spcPct val="20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Promote responsible AI Innovation, research and development in the continent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hangingPunct="1">
              <a:buFontTx/>
              <a:buChar char="-"/>
            </a:pPr>
            <a:endParaRPr lang="en-US" altLang="en-US" sz="3400" dirty="0">
              <a:solidFill>
                <a:schemeClr val="bg1">
                  <a:lumMod val="50000"/>
                </a:schemeClr>
              </a:solidFill>
              <a:latin typeface="Canela Text Regular"/>
            </a:endParaRPr>
          </a:p>
          <a:p>
            <a:pPr eaLnBrk="1" hangingPunct="1"/>
            <a:endParaRPr lang="en-US" altLang="en-US" sz="32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96714" y="2727611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Goals 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5332077" y="1985675"/>
            <a:ext cx="4497026" cy="9882468"/>
            <a:chOff x="16597000" y="627529"/>
            <a:chExt cx="4497026" cy="11654118"/>
          </a:xfrm>
        </p:grpSpPr>
        <p:sp>
          <p:nvSpPr>
            <p:cNvPr id="6" name="Rectangle: Rounded Corners 5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: Rounded Corners 6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6299720" y="2061882"/>
            <a:ext cx="10991461" cy="10142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Mozambique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Tanzania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Egypt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Malawi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South Africa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Zimbabwe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Namibia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South Africa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eaLnBrk="1" hangingPunct="1">
              <a:buFontTx/>
              <a:buChar char="-"/>
            </a:pPr>
            <a:endParaRPr lang="en-US" altLang="en-US" sz="3400" dirty="0">
              <a:solidFill>
                <a:schemeClr val="tx1"/>
              </a:solidFill>
              <a:latin typeface="Bahnschrift" panose="020B0502040204020203" charset="0"/>
              <a:ea typeface="Calibri" panose="020F0502020204030204" pitchFamily="34" charset="0"/>
              <a:cs typeface="Bahnschrift" panose="020B0502040204020203" charset="0"/>
            </a:endParaRPr>
          </a:p>
          <a:p>
            <a:pPr eaLnBrk="1" hangingPunct="1"/>
            <a:endParaRPr lang="en-US" altLang="en-US" sz="3400" dirty="0">
              <a:solidFill>
                <a:schemeClr val="tx1"/>
              </a:solidFill>
              <a:latin typeface="Bahnschrift" panose="020B0502040204020203" charset="0"/>
              <a:ea typeface="Calibri" panose="020F0502020204030204" pitchFamily="34" charset="0"/>
              <a:cs typeface="Bahnschrift" panose="020B0502040204020203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58531" y="1006946"/>
            <a:ext cx="7268709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64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</a:t>
            </a:r>
            <a:r>
              <a:rPr lang="en-US" sz="64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Reach </a:t>
            </a:r>
            <a:endParaRPr lang="en-US" sz="64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3252581" y="2061882"/>
            <a:ext cx="8077200" cy="10142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Ghana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Rwanda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Sierra Leone </a:t>
            </a:r>
            <a:endParaRPr lang="en-GB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Botswana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Kenya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Nigeria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 err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eSwathini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hangingPunct="1">
              <a:lnSpc>
                <a:spcPct val="200000"/>
              </a:lnSpc>
              <a:buFont typeface="+mj-lt"/>
              <a:buAutoNum type="arabicPeriod" startAt="9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Mozambique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eaLnBrk="1" hangingPunct="1">
              <a:buFontTx/>
              <a:buChar char="-"/>
            </a:pPr>
            <a:endParaRPr lang="en-US" altLang="en-US" sz="3400" dirty="0">
              <a:solidFill>
                <a:schemeClr val="tx1"/>
              </a:solidFill>
              <a:latin typeface="Bahnschrift" panose="020B0502040204020203" charset="0"/>
              <a:ea typeface="Calibri" panose="020F0502020204030204" pitchFamily="34" charset="0"/>
              <a:cs typeface="Bahnschrift" panose="020B0502040204020203" charset="0"/>
            </a:endParaRPr>
          </a:p>
          <a:p>
            <a:pPr eaLnBrk="1" hangingPunct="1"/>
            <a:endParaRPr lang="en-US" altLang="en-US" sz="3400" dirty="0">
              <a:solidFill>
                <a:schemeClr val="tx1"/>
              </a:solidFill>
              <a:latin typeface="Bahnschrift" panose="020B0502040204020203" charset="0"/>
              <a:ea typeface="Calibri" panose="020F0502020204030204" pitchFamily="34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8958831" y="1476605"/>
            <a:ext cx="8137526" cy="97872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64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</a:t>
            </a:r>
            <a:r>
              <a:rPr lang="en-US" sz="64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Partners </a:t>
            </a:r>
            <a:endParaRPr lang="en-US" sz="64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11306" y="3854637"/>
            <a:ext cx="4769026" cy="4488495"/>
          </a:xfrm>
          <a:prstGeom prst="rect">
            <a:avLst/>
          </a:prstGeom>
        </p:spPr>
      </p:pic>
      <p:pic>
        <p:nvPicPr>
          <p:cNvPr id="3" name="Picture 2" descr="rubiem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895" y="4522470"/>
            <a:ext cx="6799580" cy="3152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17971337" y="2813214"/>
            <a:ext cx="4497026" cy="8087620"/>
            <a:chOff x="16597000" y="627529"/>
            <a:chExt cx="4497026" cy="11654118"/>
          </a:xfrm>
        </p:grpSpPr>
        <p:sp>
          <p:nvSpPr>
            <p:cNvPr id="7" name="Rectangle: Rounded Corners 6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6412664" y="3247178"/>
            <a:ext cx="12153900" cy="6948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AI Policy , Strategy and Ethics Advisory </a:t>
            </a:r>
            <a:endParaRPr lang="en-US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Training </a:t>
            </a:r>
            <a:endParaRPr lang="en-US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Research</a:t>
            </a:r>
            <a:endParaRPr lang="en-US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Consultancy </a:t>
            </a:r>
            <a:endParaRPr lang="en-US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1228725" lvl="1" indent="-514350" algn="l" eaLnBrk="1" hangingPunct="1">
              <a:lnSpc>
                <a:spcPct val="200000"/>
              </a:lnSpc>
              <a:buFont typeface="+mj-lt"/>
              <a:buAutoNum type="arabicPeriod"/>
            </a:pPr>
            <a:r>
              <a:rPr lang="en-US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AI Solutions Innovation </a:t>
            </a:r>
            <a:endParaRPr lang="en-US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eaLnBrk="1" hangingPunct="1"/>
            <a:r>
              <a:rPr lang="en-US" altLang="en-US" sz="3200" dirty="0">
                <a:solidFill>
                  <a:schemeClr val="tx1"/>
                </a:solidFill>
                <a:latin typeface="Bahnschrift" panose="020B0502040204020203" charset="0"/>
                <a:ea typeface="Calibri" panose="020F0502020204030204" pitchFamily="34" charset="0"/>
                <a:cs typeface="Bahnschrift" panose="020B0502040204020203" charset="0"/>
              </a:rPr>
              <a:t>        </a:t>
            </a:r>
            <a:endParaRPr lang="en-US" altLang="en-US" sz="3200" dirty="0">
              <a:solidFill>
                <a:schemeClr val="tx1"/>
              </a:solidFill>
              <a:latin typeface="Bahnschrift" panose="020B0502040204020203" charset="0"/>
              <a:ea typeface="Calibri" panose="020F0502020204030204" pitchFamily="34" charset="0"/>
              <a:cs typeface="Bahnschrift" panose="020B0502040204020203" charset="0"/>
            </a:endParaRPr>
          </a:p>
          <a:p>
            <a:pPr eaLnBrk="1" hangingPunct="1">
              <a:buFontTx/>
              <a:buChar char="-"/>
            </a:pPr>
            <a:endParaRPr lang="en-US" altLang="en-US" sz="3200" dirty="0">
              <a:solidFill>
                <a:schemeClr val="tx1"/>
              </a:solidFill>
              <a:latin typeface="Bahnschrift" panose="020B0502040204020203" charset="0"/>
              <a:ea typeface="Calibri" panose="020F0502020204030204" pitchFamily="34" charset="0"/>
              <a:cs typeface="Bahnschrift" panose="020B0502040204020203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40965" y="2813213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Services</a:t>
            </a: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7701174" y="3532094"/>
            <a:ext cx="4497026" cy="8247530"/>
            <a:chOff x="16597000" y="627529"/>
            <a:chExt cx="4497026" cy="11654118"/>
          </a:xfrm>
        </p:grpSpPr>
        <p:sp>
          <p:nvSpPr>
            <p:cNvPr id="7" name="Rectangle: Rounded Corners 6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7192811" y="4558163"/>
            <a:ext cx="12153900" cy="8658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>
              <a:lnSpc>
                <a:spcPct val="150000"/>
              </a:lnSpc>
            </a:pPr>
            <a:r>
              <a:rPr lang="en-US" altLang="en-US" sz="3200" b="1" dirty="0">
                <a:solidFill>
                  <a:srgbClr val="002060"/>
                </a:solidFill>
                <a:latin typeface="Poppins" pitchFamily="2" charset="77"/>
                <a:ea typeface="Calibri" panose="020F0502020204030204" pitchFamily="34" charset="0"/>
                <a:cs typeface="Poppins" pitchFamily="2" charset="77"/>
              </a:rPr>
              <a:t>      </a:t>
            </a:r>
            <a:endParaRPr lang="en-US" altLang="en-US" sz="4800" dirty="0">
              <a:solidFill>
                <a:srgbClr val="000000"/>
              </a:solidFill>
              <a:latin typeface="Poppins" pitchFamily="2" charset="77"/>
              <a:ea typeface="Calibri" panose="020F0502020204030204" pitchFamily="34" charset="0"/>
              <a:cs typeface="Poppins" pitchFamily="2" charset="77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Student Member </a:t>
            </a:r>
            <a:endParaRPr lang="en-US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endParaRPr lang="en-US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Member </a:t>
            </a:r>
            <a:endParaRPr lang="en-US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endParaRPr lang="en-US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Fellow</a:t>
            </a:r>
            <a:endParaRPr lang="en-US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endParaRPr lang="en-US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US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Intuitional </a:t>
            </a:r>
            <a:endParaRPr lang="en-US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endParaRPr lang="en-US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eaLnBrk="1" hangingPunct="1">
              <a:buFontTx/>
              <a:buChar char="-"/>
            </a:pPr>
            <a:endParaRPr lang="en-US" altLang="en-US" sz="3200" dirty="0">
              <a:solidFill>
                <a:srgbClr val="000000"/>
              </a:solidFill>
              <a:latin typeface="Bahnschrift" panose="020B0502040204020203" charset="0"/>
              <a:ea typeface="Calibri" panose="020F0502020204030204" pitchFamily="34" charset="0"/>
              <a:cs typeface="Bahnschrift" panose="020B0502040204020203" charset="0"/>
            </a:endParaRPr>
          </a:p>
          <a:p>
            <a:pPr eaLnBrk="1" hangingPunct="1"/>
            <a:r>
              <a:rPr lang="en-US" altLang="en-US" sz="3200" dirty="0">
                <a:solidFill>
                  <a:srgbClr val="000000"/>
                </a:solidFill>
                <a:latin typeface="Bahnschrift" panose="020B0502040204020203" charset="0"/>
                <a:ea typeface="Calibri" panose="020F0502020204030204" pitchFamily="34" charset="0"/>
                <a:cs typeface="Bahnschrift" panose="020B0502040204020203" charset="0"/>
              </a:rPr>
              <a:t>        </a:t>
            </a:r>
            <a:endParaRPr lang="en-US" altLang="en-US" sz="3200" dirty="0">
              <a:solidFill>
                <a:srgbClr val="000000"/>
              </a:solidFill>
              <a:latin typeface="Bahnschrift" panose="020B0502040204020203" charset="0"/>
              <a:ea typeface="Calibri" panose="020F0502020204030204" pitchFamily="34" charset="0"/>
              <a:cs typeface="Bahnschrift" panose="020B0502040204020203" charset="0"/>
            </a:endParaRPr>
          </a:p>
          <a:p>
            <a:pPr eaLnBrk="1" hangingPunct="1">
              <a:buFontTx/>
              <a:buChar char="-"/>
            </a:pPr>
            <a:endParaRPr lang="en-US" altLang="en-US" sz="4800" dirty="0">
              <a:solidFill>
                <a:srgbClr val="000000"/>
              </a:solidFill>
              <a:latin typeface="Bahnschrift" panose="020B0502040204020203" charset="0"/>
              <a:ea typeface="Calibri" panose="020F0502020204030204" pitchFamily="34" charset="0"/>
              <a:cs typeface="Bahnschrift" panose="020B0502040204020203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11080" y="3962399"/>
            <a:ext cx="8137526" cy="8679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Membership</a:t>
            </a: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8135375" y="2330825"/>
            <a:ext cx="4497026" cy="9542106"/>
            <a:chOff x="16597000" y="627529"/>
            <a:chExt cx="4497026" cy="11654118"/>
          </a:xfrm>
        </p:grpSpPr>
        <p:sp>
          <p:nvSpPr>
            <p:cNvPr id="5" name="Rectangle: Rounded Corners 4"/>
            <p:cNvSpPr/>
            <p:nvPr/>
          </p:nvSpPr>
          <p:spPr>
            <a:xfrm>
              <a:off x="16823710" y="968188"/>
              <a:ext cx="4270316" cy="1104451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/>
            <p:cNvSpPr/>
            <p:nvPr/>
          </p:nvSpPr>
          <p:spPr>
            <a:xfrm>
              <a:off x="16597000" y="627529"/>
              <a:ext cx="2282671" cy="116541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Rectangle 9"/>
          <p:cNvSpPr>
            <a:spLocks noChangeArrowheads="1"/>
          </p:cNvSpPr>
          <p:nvPr/>
        </p:nvSpPr>
        <p:spPr bwMode="auto">
          <a:xfrm>
            <a:off x="5310222" y="3959099"/>
            <a:ext cx="12212668" cy="7939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14375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lvl="1" algn="l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AI Training or Certification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Access to attachment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Mentorship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Networking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Discount on AI products and services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Provide Consultancy or Training Services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Participate in AI stakeholder Engagements or Collaborations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 Speak at Conferences and Events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lvl="1" algn="l" eaLnBrk="1" hangingPunct="1">
              <a:lnSpc>
                <a:spcPct val="150000"/>
              </a:lnSpc>
              <a:buFont typeface="Calibri Light" panose="020F0302020204030204" pitchFamily="34" charset="0"/>
              <a:buAutoNum type="arabicPeriod"/>
            </a:pPr>
            <a:r>
              <a:rPr lang="en-GB" altLang="en-US" sz="34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 Branding , Marking and Sales </a:t>
            </a:r>
            <a:endParaRPr lang="en-GB" altLang="en-US" sz="34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65954" y="2682207"/>
            <a:ext cx="10894507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Our </a:t>
            </a:r>
            <a:r>
              <a:rPr lang="en-US" sz="5600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Membership Benefits</a:t>
            </a:r>
            <a:r>
              <a:rPr lang="en-US" sz="5600" b="1" spc="-300" dirty="0">
                <a:solidFill>
                  <a:srgbClr val="0070C0"/>
                </a:solidFill>
                <a:latin typeface="Poppins" pitchFamily="2" charset="77"/>
                <a:ea typeface="MS PGothic" panose="020B0600070205080204" pitchFamily="34" charset="-128"/>
                <a:cs typeface="Poppins" pitchFamily="2" charset="77"/>
              </a:rPr>
              <a:t> </a:t>
            </a:r>
            <a:endParaRPr lang="en-US" sz="5600" b="1" spc="-300" dirty="0">
              <a:solidFill>
                <a:srgbClr val="0070C0"/>
              </a:solidFill>
              <a:latin typeface="Poppins" pitchFamily="2" charset="77"/>
              <a:ea typeface="MS PGothic" panose="020B0600070205080204" pitchFamily="34" charset="-128"/>
              <a:cs typeface="Poppins" pitchFamily="2" charset="7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76400" y="298450"/>
            <a:ext cx="21031200" cy="1361440"/>
          </a:xfrm>
        </p:spPr>
        <p:txBody>
          <a:bodyPr>
            <a:normAutofit/>
          </a:bodyPr>
          <a:p>
            <a:r>
              <a:rPr lang="en-US" sz="5600" b="1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RIFTS-X - Records Intelligence &amp; File Tracking System</a:t>
            </a:r>
            <a:endParaRPr lang="en-US" sz="5600" b="1">
              <a:solidFill>
                <a:schemeClr val="accent5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3051810" y="1659890"/>
            <a:ext cx="8449310" cy="11610340"/>
          </a:xfrm>
        </p:spPr>
        <p:txBody>
          <a:bodyPr>
            <a:normAutofit fontScale="90000" lnSpcReduction="10000"/>
          </a:bodyPr>
          <a:p>
            <a:pPr marL="0" indent="0">
              <a:buNone/>
            </a:pPr>
            <a:r>
              <a:rPr lang="en-US" altLang="en-US" sz="5140" b="1"/>
              <a:t>Records Intelligence &amp; File Tracking System</a:t>
            </a:r>
            <a:endParaRPr lang="en-US" altLang="en-US" sz="5140" b="1"/>
          </a:p>
          <a:p>
            <a:r>
              <a:rPr lang="en-US" altLang="en-US" sz="4440"/>
              <a:t>Transforming how government institutions manage physical and digital files</a:t>
            </a:r>
            <a:endParaRPr lang="en-US" altLang="en-US" sz="4440"/>
          </a:p>
          <a:p>
            <a:pPr marL="0" indent="0">
              <a:buNone/>
            </a:pPr>
            <a:r>
              <a:rPr lang="en-US" altLang="en-US" sz="5140" b="1"/>
              <a:t>The Institutional File Problem</a:t>
            </a:r>
            <a:endParaRPr lang="en-US" altLang="en-US" sz="5140" b="1"/>
          </a:p>
          <a:p>
            <a:pPr marL="0" indent="0">
              <a:buNone/>
            </a:pPr>
            <a:r>
              <a:rPr lang="en-US" altLang="en-US" sz="4000"/>
              <a:t>Government offices face daily records challenges:</a:t>
            </a:r>
            <a:endParaRPr lang="en-US" altLang="en-US" sz="4000"/>
          </a:p>
          <a:p>
            <a:pPr marL="0" indent="0">
              <a:buNone/>
            </a:pPr>
            <a:r>
              <a:rPr lang="en-US" altLang="en-US" sz="4000"/>
              <a:t>• Lost or misplaced files</a:t>
            </a:r>
            <a:endParaRPr lang="en-US" altLang="en-US" sz="4000"/>
          </a:p>
          <a:p>
            <a:pPr marL="0" indent="0">
              <a:buNone/>
            </a:pPr>
            <a:r>
              <a:rPr lang="en-US" altLang="en-US" sz="4000"/>
              <a:t>• No real-time visibility of file location</a:t>
            </a:r>
            <a:endParaRPr lang="en-US" altLang="en-US" sz="4000"/>
          </a:p>
          <a:p>
            <a:pPr marL="0" indent="0">
              <a:buNone/>
            </a:pPr>
            <a:r>
              <a:rPr lang="en-US" altLang="en-US" sz="4000"/>
              <a:t>• Slow approvals due to manual file movement</a:t>
            </a:r>
            <a:endParaRPr lang="en-US" altLang="en-US" sz="4000"/>
          </a:p>
          <a:p>
            <a:pPr marL="0" indent="0">
              <a:buNone/>
            </a:pPr>
            <a:r>
              <a:rPr lang="en-US" altLang="en-US" sz="4000"/>
              <a:t>• Paper records disconnected from digital systems</a:t>
            </a:r>
            <a:endParaRPr lang="en-US" altLang="en-US" sz="4000"/>
          </a:p>
          <a:p>
            <a:pPr marL="0" indent="0">
              <a:buNone/>
            </a:pPr>
            <a:r>
              <a:rPr lang="en-US" altLang="en-US" sz="4000"/>
              <a:t>• Weak audit trails and accountability</a:t>
            </a:r>
            <a:endParaRPr lang="en-US" altLang="en-US" sz="4000"/>
          </a:p>
          <a:p>
            <a:pPr marL="0" indent="0">
              <a:buNone/>
            </a:pPr>
            <a:r>
              <a:rPr lang="en-US" altLang="en-US" sz="4000"/>
              <a:t>These issues lead to delayed decisions, operational inefficiencies, and institutional risk.</a:t>
            </a:r>
            <a:endParaRPr lang="en-US" altLang="en-US" sz="4000"/>
          </a:p>
        </p:txBody>
      </p:sp>
      <p:pic>
        <p:nvPicPr>
          <p:cNvPr id="8" name="Content Placeholder 7" descr="ChatGPT Image Mar 12, 2026 at 08_20_14 PM"/>
          <p:cNvPicPr>
            <a:picLocks noChangeAspect="1"/>
          </p:cNvPicPr>
          <p:nvPr>
            <p:ph sz="half" idx="2"/>
          </p:nvPr>
        </p:nvPicPr>
        <p:blipFill>
          <a:blip r:embed="rId1"/>
          <a:srcRect t="10760" b="16358"/>
          <a:stretch>
            <a:fillRect/>
          </a:stretch>
        </p:blipFill>
        <p:spPr>
          <a:xfrm>
            <a:off x="11873230" y="1488440"/>
            <a:ext cx="11666220" cy="1198372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2000" y="0"/>
            <a:ext cx="3302000" cy="13627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8205" y="730250"/>
            <a:ext cx="19289395" cy="2103120"/>
          </a:xfrm>
        </p:spPr>
        <p:txBody>
          <a:bodyPr/>
          <a:p>
            <a:r>
              <a:rPr lang="en-US" sz="6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Cognify </a:t>
            </a:r>
            <a:endParaRPr lang="en-US" sz="6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8205" y="2832735"/>
            <a:ext cx="19289395" cy="9521190"/>
          </a:xfrm>
        </p:spPr>
        <p:txBody>
          <a:bodyPr/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AI-powered optimization and intelligence system designed to improve learning using multi-modal, multi-language, avatar-based, KTCE among other ways of learning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How Cognify Helps Organisations</a:t>
            </a:r>
            <a:endParaRPr lang="en-US" altLang="en-US" sz="3400" b="1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Cognify’s optimisation power extends across organisational use cases: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Business &amp; Enterprise</a:t>
            </a:r>
            <a:endParaRPr lang="en-US" altLang="en-US" sz="3400" b="1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Efficient AI Integrations: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Improves internal AI workflows (e.g., automated reporting, knowledge summaries, customer support bots).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Cost-Smart AI Deployments: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Reduces cloud/compute bills by choosing optimized execution plans.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Higher Output Quality: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Better results from workflows that combine multiple AI steps (e.g., data retrieval → reasoning → answer generation).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18320" y="4103793"/>
            <a:ext cx="12979629" cy="8051800"/>
            <a:chOff x="0" y="0"/>
            <a:chExt cx="1446264" cy="89717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6264" cy="897177"/>
            </a:xfrm>
            <a:custGeom>
              <a:avLst/>
              <a:gdLst/>
              <a:ahLst/>
              <a:cxnLst/>
              <a:rect l="l" t="t" r="r" b="b"/>
              <a:pathLst>
                <a:path w="1446264" h="897177">
                  <a:moveTo>
                    <a:pt x="0" y="0"/>
                  </a:moveTo>
                  <a:lnTo>
                    <a:pt x="1446264" y="0"/>
                  </a:lnTo>
                  <a:lnTo>
                    <a:pt x="1446264" y="897177"/>
                  </a:lnTo>
                  <a:lnTo>
                    <a:pt x="0" y="897177"/>
                  </a:lnTo>
                  <a:close/>
                </a:path>
              </a:pathLst>
            </a:custGeom>
            <a:blipFill>
              <a:blip r:embed="rId1"/>
              <a:stretch>
                <a:fillRect l="-5627" t="-120" r="-15378" b="-120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0706651" y="1139272"/>
            <a:ext cx="2391297" cy="2322619"/>
          </a:xfrm>
          <a:custGeom>
            <a:avLst/>
            <a:gdLst/>
            <a:ahLst/>
            <a:cxnLst/>
            <a:rect l="l" t="t" r="r" b="b"/>
            <a:pathLst>
              <a:path w="1793473" h="1741964">
                <a:moveTo>
                  <a:pt x="0" y="0"/>
                </a:moveTo>
                <a:lnTo>
                  <a:pt x="1793473" y="0"/>
                </a:lnTo>
                <a:lnTo>
                  <a:pt x="1793473" y="1741963"/>
                </a:lnTo>
                <a:lnTo>
                  <a:pt x="0" y="17419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0">
            <a:off x="14312900" y="2073330"/>
            <a:ext cx="8444196" cy="2811258"/>
            <a:chOff x="0" y="-9525"/>
            <a:chExt cx="8444196" cy="2811258"/>
          </a:xfrm>
        </p:grpSpPr>
        <p:sp>
          <p:nvSpPr>
            <p:cNvPr id="7" name="TextBox 7"/>
            <p:cNvSpPr txBox="1"/>
            <p:nvPr/>
          </p:nvSpPr>
          <p:spPr>
            <a:xfrm>
              <a:off x="0" y="1350123"/>
              <a:ext cx="8444196" cy="14516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30"/>
                </a:lnSpc>
              </a:pPr>
              <a:r>
                <a:rPr lang="en-US" sz="2700">
                  <a:solidFill>
                    <a:schemeClr val="tx1"/>
                  </a:solidFill>
                  <a:latin typeface="Bahnschrift" panose="020B0502040204020203" charset="0"/>
                  <a:ea typeface="Inclusive Sans"/>
                  <a:cs typeface="Bahnschrift" panose="020B0502040204020203" charset="0"/>
                  <a:sym typeface="Inclusive Sans"/>
                </a:rPr>
                <a:t>Employees can describe tasks using natural language, making interaction simple and intuitive for everyone involved. Or upload a job description that will frame the AI’s tasks </a:t>
              </a:r>
              <a:endParaRPr lang="en-US" sz="2700">
                <a:solidFill>
                  <a:schemeClr val="tx1"/>
                </a:solidFill>
                <a:latin typeface="Bahnschrift" panose="020B0502040204020203" charset="0"/>
                <a:ea typeface="Inclusive Sans"/>
                <a:cs typeface="Bahnschrift" panose="020B0502040204020203" charset="0"/>
                <a:sym typeface="Inclusive San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8444196" cy="8483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0"/>
                </a:lnSpc>
              </a:pPr>
              <a:r>
                <a:rPr lang="en-US" sz="3680" u="none" strike="noStrike" spc="-55">
                  <a:solidFill>
                    <a:schemeClr val="tx1"/>
                  </a:solidFill>
                  <a:latin typeface="Bahnschrift SemiBold" panose="020B0502040204020203" charset="0"/>
                  <a:ea typeface="Inclusive Sans"/>
                  <a:cs typeface="Bahnschrift SemiBold" panose="020B0502040204020203" charset="0"/>
                  <a:sym typeface="Inclusive Sans"/>
                </a:rPr>
                <a:t>Natural Language Input or Job Description</a:t>
              </a:r>
              <a:endParaRPr lang="en-US" sz="3680" u="none" strike="noStrike" spc="-55">
                <a:solidFill>
                  <a:schemeClr val="tx1"/>
                </a:solidFill>
                <a:latin typeface="Bahnschrift SemiBold" panose="020B0502040204020203" charset="0"/>
                <a:ea typeface="Inclusive Sans"/>
                <a:cs typeface="Bahnschrift SemiBold" panose="020B0502040204020203" charset="0"/>
                <a:sym typeface="Inclusive Sans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2874423" y="2082428"/>
            <a:ext cx="103207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sz="3465" b="1">
                <a:solidFill>
                  <a:schemeClr val="tx1"/>
                </a:solidFill>
                <a:latin typeface="Lovelace Text Bold" panose="00000700000000000000"/>
                <a:ea typeface="Lovelace Text Bold" panose="00000700000000000000"/>
                <a:cs typeface="Lovelace Text Bold" panose="00000700000000000000"/>
                <a:sym typeface="Lovelace Text Bold" panose="00000700000000000000"/>
              </a:rPr>
              <a:t>01</a:t>
            </a:r>
            <a:endParaRPr lang="en-US" sz="3465" b="1">
              <a:solidFill>
                <a:schemeClr val="tx1"/>
              </a:solidFill>
              <a:latin typeface="Lovelace Text Bold" panose="00000700000000000000"/>
              <a:ea typeface="Lovelace Text Bold" panose="00000700000000000000"/>
              <a:cs typeface="Lovelace Text Bold" panose="00000700000000000000"/>
              <a:sym typeface="Lovelace Text Bold" panose="00000700000000000000"/>
            </a:endParaRPr>
          </a:p>
        </p:txBody>
      </p:sp>
      <p:grpSp>
        <p:nvGrpSpPr>
          <p:cNvPr id="10" name="Group 10"/>
          <p:cNvGrpSpPr/>
          <p:nvPr/>
        </p:nvGrpSpPr>
        <p:grpSpPr>
          <a:xfrm rot="0">
            <a:off x="14312900" y="5664200"/>
            <a:ext cx="8699500" cy="2304046"/>
            <a:chOff x="0" y="0"/>
            <a:chExt cx="8699500" cy="2304046"/>
          </a:xfrm>
        </p:grpSpPr>
        <p:sp>
          <p:nvSpPr>
            <p:cNvPr id="11" name="TextBox 11"/>
            <p:cNvSpPr txBox="1"/>
            <p:nvPr/>
          </p:nvSpPr>
          <p:spPr>
            <a:xfrm>
              <a:off x="0" y="806716"/>
              <a:ext cx="8699500" cy="1497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20"/>
                </a:lnSpc>
              </a:pPr>
              <a:r>
                <a:rPr lang="en-US" sz="2780">
                  <a:solidFill>
                    <a:schemeClr val="tx1"/>
                  </a:solidFill>
                  <a:latin typeface="Bahnschrift" panose="020B0502040204020203" charset="0"/>
                  <a:ea typeface="Inclusive Sans"/>
                  <a:cs typeface="Bahnschrift" panose="020B0502040204020203" charset="0"/>
                  <a:sym typeface="Inclusive Sans"/>
                </a:rPr>
                <a:t>The system efficiently translates requests into structured workflows, automating tasks across multiple systems to enhance productivity. The system converts business processes into AI workflows. </a:t>
              </a:r>
              <a:endParaRPr lang="en-US" sz="2780">
                <a:solidFill>
                  <a:schemeClr val="tx1"/>
                </a:solidFill>
                <a:latin typeface="Bahnschrift" panose="020B0502040204020203" charset="0"/>
                <a:ea typeface="Inclusive Sans"/>
                <a:cs typeface="Bahnschrift" panose="020B0502040204020203" charset="0"/>
                <a:sym typeface="Inclusive San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8699500" cy="436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10"/>
                </a:lnSpc>
              </a:pPr>
              <a:r>
                <a:rPr lang="en-US" sz="3785" spc="-56">
                  <a:solidFill>
                    <a:schemeClr val="tx1"/>
                  </a:solidFill>
                  <a:latin typeface="Bahnschrift SemiBold" panose="020B0502040204020203" charset="0"/>
                  <a:ea typeface="Inclusive Sans"/>
                  <a:cs typeface="Bahnschrift SemiBold" panose="020B0502040204020203" charset="0"/>
                  <a:sym typeface="Inclusive Sans"/>
                </a:rPr>
                <a:t>Process Automation</a:t>
              </a:r>
              <a:endParaRPr lang="en-US" sz="3785" spc="-56">
                <a:solidFill>
                  <a:schemeClr val="tx1"/>
                </a:solidFill>
                <a:latin typeface="Bahnschrift SemiBold" panose="020B0502040204020203" charset="0"/>
                <a:ea typeface="Inclusive Sans"/>
                <a:cs typeface="Bahnschrift SemiBold" panose="020B0502040204020203" charset="0"/>
                <a:sym typeface="Inclusive Sans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874423" y="5678984"/>
            <a:ext cx="103207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sz="3465" b="1">
                <a:solidFill>
                  <a:schemeClr val="tx1"/>
                </a:solidFill>
                <a:latin typeface="Lovelace Text Bold" panose="00000700000000000000"/>
                <a:ea typeface="Lovelace Text Bold" panose="00000700000000000000"/>
                <a:cs typeface="Lovelace Text Bold" panose="00000700000000000000"/>
                <a:sym typeface="Lovelace Text Bold" panose="00000700000000000000"/>
              </a:rPr>
              <a:t>02</a:t>
            </a:r>
            <a:endParaRPr lang="en-US" sz="3465" b="1">
              <a:solidFill>
                <a:schemeClr val="tx1"/>
              </a:solidFill>
              <a:latin typeface="Lovelace Text Bold" panose="00000700000000000000"/>
              <a:ea typeface="Lovelace Text Bold" panose="00000700000000000000"/>
              <a:cs typeface="Lovelace Text Bold" panose="00000700000000000000"/>
              <a:sym typeface="Lovelace Text Bold" panose="00000700000000000000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14312900" y="9236075"/>
            <a:ext cx="9182100" cy="2443480"/>
            <a:chOff x="0" y="-9525"/>
            <a:chExt cx="9182100" cy="244348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854075"/>
              <a:ext cx="9182100" cy="15798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80"/>
                </a:lnSpc>
              </a:pPr>
              <a:r>
                <a:rPr lang="en-US" sz="2935">
                  <a:solidFill>
                    <a:schemeClr val="tx1"/>
                  </a:solidFill>
                  <a:latin typeface="Bahnschrift" panose="020B0502040204020203" charset="0"/>
                  <a:ea typeface="Inclusive Sans"/>
                  <a:cs typeface="Bahnschrift" panose="020B0502040204020203" charset="0"/>
                  <a:sym typeface="Inclusive Sans"/>
                </a:rPr>
                <a:t>Built-in governance features ensure security and compliance, with approvals and audit trails maintaining organizational integrity throughout processes.</a:t>
              </a:r>
              <a:endParaRPr lang="en-US" sz="2935">
                <a:solidFill>
                  <a:schemeClr val="tx1"/>
                </a:solidFill>
                <a:latin typeface="Bahnschrift" panose="020B0502040204020203" charset="0"/>
                <a:ea typeface="Inclusive Sans"/>
                <a:cs typeface="Bahnschrift" panose="020B0502040204020203" charset="0"/>
                <a:sym typeface="Inclusive San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9182100" cy="4616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4000" spc="-60">
                  <a:solidFill>
                    <a:schemeClr val="tx1"/>
                  </a:solidFill>
                  <a:latin typeface="Bahnschrift SemiBold" panose="020B0502040204020203" charset="0"/>
                  <a:ea typeface="Inclusive Sans"/>
                  <a:cs typeface="Bahnschrift SemiBold" panose="020B0502040204020203" charset="0"/>
                  <a:sym typeface="Inclusive Sans"/>
                </a:rPr>
                <a:t>Comprehensive Governance</a:t>
              </a:r>
              <a:endParaRPr lang="en-US" sz="4000" spc="-60">
                <a:solidFill>
                  <a:schemeClr val="tx1"/>
                </a:solidFill>
                <a:latin typeface="Bahnschrift SemiBold" panose="020B0502040204020203" charset="0"/>
                <a:ea typeface="Inclusive Sans"/>
                <a:cs typeface="Bahnschrift SemiBold" panose="020B0502040204020203" charset="0"/>
                <a:sym typeface="Inclusive Sans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874423" y="9260384"/>
            <a:ext cx="103207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sz="3465" b="1">
                <a:solidFill>
                  <a:schemeClr val="tx1"/>
                </a:solidFill>
                <a:latin typeface="Lovelace Text Bold" panose="00000700000000000000"/>
                <a:ea typeface="Lovelace Text Bold" panose="00000700000000000000"/>
                <a:cs typeface="Lovelace Text Bold" panose="00000700000000000000"/>
                <a:sym typeface="Lovelace Text Bold" panose="00000700000000000000"/>
              </a:rPr>
              <a:t>03</a:t>
            </a:r>
            <a:endParaRPr lang="en-US" sz="3465" b="1">
              <a:solidFill>
                <a:schemeClr val="tx1"/>
              </a:solidFill>
              <a:latin typeface="Lovelace Text Bold" panose="00000700000000000000"/>
              <a:ea typeface="Lovelace Text Bold" panose="00000700000000000000"/>
              <a:cs typeface="Lovelace Text Bold" panose="00000700000000000000"/>
              <a:sym typeface="Lovelace Text Bold" panose="000007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89000" y="1079500"/>
            <a:ext cx="11303000" cy="1951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10"/>
              </a:lnSpc>
            </a:pPr>
            <a:r>
              <a:rPr lang="en-US" sz="10145">
                <a:solidFill>
                  <a:schemeClr val="tx1"/>
                </a:solidFill>
                <a:latin typeface="Bahnschrift" panose="020B0502040204020203" charset="0"/>
                <a:ea typeface="Lovelace Text" panose="00000500000000000000"/>
                <a:cs typeface="Bahnschrift" panose="020B0502040204020203" charset="0"/>
                <a:sym typeface="Lovelace Text" panose="00000500000000000000"/>
              </a:rPr>
              <a:t>NeuroWorks </a:t>
            </a:r>
            <a:endParaRPr lang="en-US" sz="10145">
              <a:solidFill>
                <a:schemeClr val="tx1"/>
              </a:solidFill>
              <a:latin typeface="Bahnschrift" panose="020B0502040204020203" charset="0"/>
              <a:ea typeface="Lovelace Text" panose="00000500000000000000"/>
              <a:cs typeface="Bahnschrift" panose="020B0502040204020203" charset="0"/>
              <a:sym typeface="Lovelace Text" panose="00000500000000000000"/>
            </a:endParaRPr>
          </a:p>
          <a:p>
            <a:pPr marL="0" lvl="0" indent="0" algn="l">
              <a:lnSpc>
                <a:spcPts val="7610"/>
              </a:lnSpc>
            </a:pPr>
            <a:r>
              <a:rPr lang="en-US" sz="10145">
                <a:solidFill>
                  <a:schemeClr val="tx1"/>
                </a:solidFill>
                <a:latin typeface="Bahnschrift" panose="020B0502040204020203" charset="0"/>
                <a:ea typeface="Lovelace Text" panose="00000500000000000000"/>
                <a:cs typeface="Bahnschrift" panose="020B0502040204020203" charset="0"/>
                <a:sym typeface="Lovelace Text" panose="00000500000000000000"/>
              </a:rPr>
              <a:t>AI workforce</a:t>
            </a:r>
            <a:endParaRPr lang="en-US" sz="10145">
              <a:solidFill>
                <a:schemeClr val="tx1"/>
              </a:solidFill>
              <a:latin typeface="Bahnschrift" panose="020B0502040204020203" charset="0"/>
              <a:ea typeface="Lovelace Text" panose="00000500000000000000"/>
              <a:cs typeface="Bahnschrift" panose="020B0502040204020203" charset="0"/>
              <a:sym typeface="Lovelace Text" panose="000005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1510" y="730250"/>
            <a:ext cx="19516090" cy="2651125"/>
          </a:xfrm>
        </p:spPr>
        <p:txBody>
          <a:bodyPr/>
          <a:p>
            <a:r>
              <a:rPr lang="en-US" sz="6000" b="1">
                <a:solidFill>
                  <a:schemeClr val="accent1"/>
                </a:solidFill>
              </a:rPr>
              <a:t>AI TRAINING</a:t>
            </a:r>
            <a:endParaRPr lang="en-US" sz="60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1510" y="2767330"/>
            <a:ext cx="19516090" cy="9586595"/>
          </a:xfrm>
        </p:spPr>
        <p:txBody>
          <a:bodyPr/>
          <a:p>
            <a:pPr marL="0" indent="0">
              <a:buNone/>
            </a:pPr>
            <a:r>
              <a:rPr lang="en-US" altLang="en-US" sz="3600" b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Core Program Tracks</a:t>
            </a:r>
            <a:endParaRPr lang="en-US" altLang="en-US" sz="3600" b="1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6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Foundational &amp; Career Programs</a:t>
            </a:r>
            <a:endParaRPr lang="en-US" altLang="en-US" sz="36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6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3-Day Intensive Course – Quick introduction to AI fundamentals.</a:t>
            </a:r>
            <a:endParaRPr lang="en-US" altLang="en-US" sz="36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6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6-Month Professional Course – Comprehensive training for practical AI skills.</a:t>
            </a:r>
            <a:endParaRPr lang="en-US" altLang="en-US" sz="36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6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12-Month Advanced Diploma – Deep professional certification.</a:t>
            </a:r>
            <a:endParaRPr lang="en-US" altLang="en-US" sz="36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endParaRPr lang="en-US" altLang="en-US" sz="36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altLang="en-US" sz="3600" b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Leadership &amp; Role-Based Courses</a:t>
            </a:r>
            <a:endParaRPr lang="en-US" altLang="en-US" sz="3600" b="1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6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Master AI for Directors – Short course for board members and C-suite.</a:t>
            </a:r>
            <a:endParaRPr lang="en-US" altLang="en-US" sz="36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6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Master AI for Executives – Targeted at senior leaders.</a:t>
            </a:r>
            <a:endParaRPr lang="en-US" altLang="en-US" sz="36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6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Master AI for Professionals – Professional development.</a:t>
            </a:r>
            <a:endParaRPr lang="en-US" altLang="en-US" sz="36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6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Applied AI for Business Professionals – Practical AI use for roles like banking and finance.</a:t>
            </a:r>
            <a:endParaRPr lang="en-US" altLang="en-US" sz="36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1510" y="730250"/>
            <a:ext cx="19516090" cy="2651125"/>
          </a:xfrm>
        </p:spPr>
        <p:txBody>
          <a:bodyPr/>
          <a:p>
            <a:r>
              <a:rPr lang="en-US" altLang="en-US" sz="5800" b="1">
                <a:solidFill>
                  <a:schemeClr val="accent1"/>
                </a:solidFill>
                <a:sym typeface="+mn-ea"/>
              </a:rPr>
              <a:t>AI Institute Africa – 2026 National &amp; Sector Summits</a:t>
            </a:r>
            <a:endParaRPr lang="en-US" altLang="en-US" sz="5800" b="1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0875" y="3095625"/>
            <a:ext cx="19516725" cy="9258300"/>
          </a:xfrm>
        </p:spPr>
        <p:txBody>
          <a:bodyPr/>
          <a:p>
            <a:pPr marL="0" indent="0">
              <a:buNone/>
            </a:pPr>
            <a:r>
              <a:rPr lang="en-US" altLang="en-US" sz="3400" b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AI Tech Forum Zimbabwe 2026</a:t>
            </a:r>
            <a:endParaRPr lang="en-US" altLang="en-US" sz="3400" b="1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Theme: Mastering AI Systems: Building Zimbabwe’s Intelligence Edge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zh-CN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📍</a:t>
            </a:r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 May 2026 | Nyanga</a:t>
            </a:r>
            <a:b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</a:b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Focus Areas:</a:t>
            </a:r>
            <a:endParaRPr lang="en-US" altLang="en-US" sz="3400" b="1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AI Applications, Models &amp; Frameworks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Machine Learning &amp; Deep Learning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AI Infrastructure (Compute, Storage, Cloud)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Performance, Optimisation &amp; Scalability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Research Collaboration &amp; Data Readiness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Audience: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Researchers, engineers, AI specialists, government tech leaders, startups, innovators.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0075" y="730250"/>
            <a:ext cx="19567525" cy="2651125"/>
          </a:xfrm>
        </p:spPr>
        <p:txBody>
          <a:bodyPr/>
          <a:p>
            <a:r>
              <a:rPr lang="en-US" sz="5800" b="1">
                <a:solidFill>
                  <a:schemeClr val="accent1"/>
                </a:solidFill>
              </a:rPr>
              <a:t>CONT.</a:t>
            </a:r>
            <a:endParaRPr lang="en-US" sz="58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0075" y="3044825"/>
            <a:ext cx="19567525" cy="9309100"/>
          </a:xfrm>
        </p:spPr>
        <p:txBody>
          <a:bodyPr/>
          <a:p>
            <a:pPr marL="0" indent="0">
              <a:buNone/>
            </a:pPr>
            <a:r>
              <a:rPr lang="en-US" altLang="en-US" sz="3400" b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Zimbabwe 2.0 – AI for National Transformation 2026</a:t>
            </a:r>
            <a:endParaRPr lang="en-US" altLang="en-US" sz="3400" b="1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Theme: Intelligence as National Infrastructure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zh-CN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📍</a:t>
            </a:r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 May 2026 | Nyanga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Focus Areas:</a:t>
            </a:r>
            <a:endParaRPr lang="en-US" altLang="en-US" sz="3400" b="1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AI for Government &amp; Judiciary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AI for Socio-Economic Development (Vision 2030 / NDS2)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AI Infrastructure &amp; Regional Integration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Investment, Innovation &amp; Financing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Ethics, Governance, Privacy &amp; Cybersecurity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Audience:</a:t>
            </a:r>
            <a:endParaRPr lang="en-US" altLang="en-US" sz="3400" b="1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Government leaders, regulators, business executives, academia, startups, development partners.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8480" y="730250"/>
            <a:ext cx="19629120" cy="2651125"/>
          </a:xfrm>
        </p:spPr>
        <p:txBody>
          <a:bodyPr/>
          <a:p>
            <a:r>
              <a:rPr lang="en-US" sz="5800" b="1">
                <a:solidFill>
                  <a:schemeClr val="accent1"/>
                </a:solidFill>
              </a:rPr>
              <a:t>CONT.</a:t>
            </a:r>
            <a:endParaRPr lang="en-US" sz="58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2475" y="2893695"/>
            <a:ext cx="19415125" cy="9460230"/>
          </a:xfrm>
        </p:spPr>
        <p:txBody>
          <a:bodyPr/>
          <a:p>
            <a:pPr marL="0" indent="0">
              <a:buNone/>
            </a:pPr>
            <a:r>
              <a:rPr lang="en-US" altLang="en-US" sz="3400" b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AI Africa Summit 2026</a:t>
            </a:r>
            <a:endParaRPr lang="en-US" altLang="en-US" sz="3400" b="1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Theme: Africa 2.0: Ubuntu Algorithms for AI-Augmented Transformation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zh-CN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📍</a:t>
            </a:r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 August 2026 | Victoria Falls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Focus Areas:</a:t>
            </a:r>
            <a:endParaRPr lang="en-US" altLang="en-US" sz="3400" b="1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National AI Policy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AI in Mining, Energy, Agriculture &amp; Healthcare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AI-Driven Economy &amp; Funding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Digital Infrastructure &amp; Cybersecurity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Data Ethics &amp; Policy Harmonisation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Audience: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Governments, investors, AI engineers, industry leaders, academia, regional &amp; international institutions.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7980" y="730250"/>
            <a:ext cx="19819620" cy="2651125"/>
          </a:xfrm>
        </p:spPr>
        <p:txBody>
          <a:bodyPr/>
          <a:p>
            <a:r>
              <a:rPr lang="en-US" sz="5800" b="1">
                <a:solidFill>
                  <a:schemeClr val="accent1"/>
                </a:solidFill>
              </a:rPr>
              <a:t>CONT.</a:t>
            </a:r>
            <a:endParaRPr lang="en-US" sz="5800" b="1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6465" y="2817495"/>
            <a:ext cx="19241135" cy="9536430"/>
          </a:xfrm>
        </p:spPr>
        <p:txBody>
          <a:bodyPr/>
          <a:p>
            <a:pPr marL="0" indent="0">
              <a:buNone/>
            </a:pPr>
            <a:r>
              <a:rPr lang="en-US" altLang="en-US" sz="3400" b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AI Education Africa 2026</a:t>
            </a:r>
            <a:endParaRPr lang="en-US" altLang="en-US" sz="3400" b="1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Theme: Transforming Education Through AI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zh-CN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📍</a:t>
            </a:r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 October 2026 | Harare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Focus Areas: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AI in Primary, Secondary &amp; Tertiary Education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AI for Teachers &amp; Learners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r>
              <a:rPr lang="en-US" altLang="en-US" sz="3400" b="1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Future Skills &amp; Jobs</a:t>
            </a:r>
            <a:endParaRPr lang="en-US" altLang="en-US" sz="3400" b="1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Data Governance &amp; Ethics in Education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EdTech Innovation &amp; Regional Collaboration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Audience: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r>
              <a:rPr lang="en-US" altLang="en-US" sz="340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  <a:sym typeface="+mn-ea"/>
              </a:rPr>
              <a:t>Schools, universities, regulators, researchers, students, EdTech startups, investors, development agencies.</a:t>
            </a: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  <a:p>
            <a:pPr marL="0" indent="0">
              <a:buNone/>
            </a:pPr>
            <a:endParaRPr lang="en-US" altLang="en-US" sz="340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4550" y="384110"/>
            <a:ext cx="8947150" cy="1206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15"/>
          <p:cNvSpPr txBox="1">
            <a:spLocks noChangeArrowheads="1"/>
          </p:cNvSpPr>
          <p:nvPr/>
        </p:nvSpPr>
        <p:spPr bwMode="auto">
          <a:xfrm flipH="1">
            <a:off x="13341700" y="1616630"/>
            <a:ext cx="9926916" cy="512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4000" b="1" dirty="0">
              <a:solidFill>
                <a:srgbClr val="00B050"/>
              </a:solidFill>
            </a:endParaRPr>
          </a:p>
        </p:txBody>
      </p:sp>
      <p:pic>
        <p:nvPicPr>
          <p:cNvPr id="4" name="Picture 1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704798" y="2320475"/>
            <a:ext cx="601290" cy="703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04798" y="3495060"/>
            <a:ext cx="800271" cy="70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5505069" y="2191943"/>
            <a:ext cx="8058438" cy="755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Admin@aiinstituteafrica.com</a:t>
            </a:r>
            <a:endParaRPr lang="en-US" sz="48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715615" y="3342005"/>
            <a:ext cx="7847965" cy="755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schemeClr val="tx1"/>
                </a:solidFill>
                <a:latin typeface="Bahnschrift" panose="020B0502040204020203" charset="0"/>
                <a:cs typeface="Bahnschrift" panose="020B0502040204020203" charset="0"/>
              </a:rPr>
              <a:t>www.aiinstituteafrica.com</a:t>
            </a:r>
            <a:endParaRPr lang="en-US" sz="4800" dirty="0">
              <a:solidFill>
                <a:schemeClr val="tx1"/>
              </a:solidFill>
              <a:latin typeface="Bahnschrift" panose="020B0502040204020203" charset="0"/>
              <a:cs typeface="Bahnschrift" panose="020B0502040204020203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143195" y="9008172"/>
            <a:ext cx="6323925" cy="142192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275 Hebert Chitepo Ave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defRPr/>
            </a:pPr>
            <a:r>
              <a:rPr lang="en-US" sz="4800" dirty="0">
                <a:solidFill>
                  <a:schemeClr val="bg1">
                    <a:lumMod val="50000"/>
                  </a:schemeClr>
                </a:solidFill>
              </a:rPr>
              <a:t>Harare , Zimbabwe </a:t>
            </a:r>
            <a:endParaRPr lang="en-US" sz="4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5822</Words>
  <Application>WPS Presentation</Application>
  <PresentationFormat>Custom</PresentationFormat>
  <Paragraphs>230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52" baseType="lpstr">
      <vt:lpstr>Arial</vt:lpstr>
      <vt:lpstr>SimSun</vt:lpstr>
      <vt:lpstr>Wingdings</vt:lpstr>
      <vt:lpstr>Canela Text Regular</vt:lpstr>
      <vt:lpstr>Segoe Print</vt:lpstr>
      <vt:lpstr>Graphik</vt:lpstr>
      <vt:lpstr>Canela Bold</vt:lpstr>
      <vt:lpstr>Graphik Semibold</vt:lpstr>
      <vt:lpstr>Graphik Medium</vt:lpstr>
      <vt:lpstr>Canela Deck Regular</vt:lpstr>
      <vt:lpstr>Canela Regular</vt:lpstr>
      <vt:lpstr>Calibri Light</vt:lpstr>
      <vt:lpstr>MS PGothic</vt:lpstr>
      <vt:lpstr>Helvetica Neue</vt:lpstr>
      <vt:lpstr>Poppins</vt:lpstr>
      <vt:lpstr>Calibri</vt:lpstr>
      <vt:lpstr>Al Bayan</vt:lpstr>
      <vt:lpstr>Arial Unicode MS</vt:lpstr>
      <vt:lpstr>Al Bayan Plain</vt:lpstr>
      <vt:lpstr>Microsoft YaHei</vt:lpstr>
      <vt:lpstr>Arial Unicode MS</vt:lpstr>
      <vt:lpstr>Inclusive Sans</vt:lpstr>
      <vt:lpstr>Lovelace Text Bold</vt:lpstr>
      <vt:lpstr>Lovelace Text</vt:lpstr>
      <vt:lpstr>Bahnschrift</vt:lpstr>
      <vt:lpstr>Bahnschrift SemiBold</vt:lpstr>
      <vt:lpstr>Bahnschrift Condensed</vt:lpstr>
      <vt:lpstr>Arial Black</vt:lpstr>
      <vt:lpstr>Bahnschrift Light Condensed</vt:lpstr>
      <vt:lpstr>Bahnschrift SemiBold Condensed</vt:lpstr>
      <vt:lpstr>Verdana</vt:lpstr>
      <vt:lpstr>Bahnschrift Light</vt:lpstr>
      <vt:lpstr>23_ClassicWhite</vt:lpstr>
      <vt:lpstr>Custom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RIFTS-X - Records Intelligence &amp; File Tracking System</vt:lpstr>
      <vt:lpstr>Cognify </vt:lpstr>
      <vt:lpstr>PowerPoint 演示文稿</vt:lpstr>
      <vt:lpstr>AI TRAINING</vt:lpstr>
      <vt:lpstr>AI Institute Africa – 2026 National &amp; Sector Summits</vt:lpstr>
      <vt:lpstr>CONT.</vt:lpstr>
      <vt:lpstr>CONT.</vt:lpstr>
      <vt:lpstr>CONT.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leverage  trends in the market place</dc:title>
  <dc:creator>NPA13</dc:creator>
  <cp:lastModifiedBy>King_Arthur</cp:lastModifiedBy>
  <cp:revision>361</cp:revision>
  <dcterms:created xsi:type="dcterms:W3CDTF">2026-03-10T12:31:00Z</dcterms:created>
  <dcterms:modified xsi:type="dcterms:W3CDTF">2026-03-25T06:54:50Z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94E204B5FFE548A8893F8E3E175C090D_13</vt:lpwstr>
  </property>
  <property fmtid="{D5CDD505-2E9C-101B-9397-08002B2CF9AE}" pid="3" name="KSOProductBuildVer">
    <vt:lpwstr>1033-12.2.0.23196</vt:lpwstr>
  </property>
</Properties>
</file>