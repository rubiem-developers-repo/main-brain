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3"/>
    <p:sldId id="257" r:id="rId4"/>
  </p:sldIdLst>
  <p:sldSz cx="18288000" cy="10287000"/>
  <p:notesSz cx="6858000" cy="9144000"/>
  <p:embeddedFontLst>
    <p:embeddedFont>
      <p:font typeface="Inclusive Sans"/>
      <p:regular r:id="rId9"/>
    </p:embeddedFont>
    <p:embeddedFont>
      <p:font typeface="Calibri" panose="020F050202020403020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8740" y="3077845"/>
            <a:ext cx="9734722" cy="6038850"/>
            <a:chOff x="0" y="0"/>
            <a:chExt cx="1446264" cy="8971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6264" cy="897177"/>
            </a:xfrm>
            <a:custGeom>
              <a:avLst/>
              <a:gdLst/>
              <a:ahLst/>
              <a:cxnLst/>
              <a:rect l="l" t="t" r="r" b="b"/>
              <a:pathLst>
                <a:path w="1446264" h="897177">
                  <a:moveTo>
                    <a:pt x="0" y="0"/>
                  </a:moveTo>
                  <a:lnTo>
                    <a:pt x="1446264" y="0"/>
                  </a:lnTo>
                  <a:lnTo>
                    <a:pt x="1446264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1"/>
              <a:stretch>
                <a:fillRect l="-5627" t="-120" r="-15378" b="-12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907745" y="7393598"/>
            <a:ext cx="4320154" cy="4320154"/>
          </a:xfrm>
          <a:custGeom>
            <a:avLst/>
            <a:gdLst/>
            <a:ahLst/>
            <a:cxnLst/>
            <a:rect l="l" t="t" r="r" b="b"/>
            <a:pathLst>
              <a:path w="4320154" h="4320154">
                <a:moveTo>
                  <a:pt x="0" y="0"/>
                </a:moveTo>
                <a:lnTo>
                  <a:pt x="4320154" y="0"/>
                </a:lnTo>
                <a:lnTo>
                  <a:pt x="4320154" y="4320154"/>
                </a:lnTo>
                <a:lnTo>
                  <a:pt x="0" y="432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029988" y="854454"/>
            <a:ext cx="1793473" cy="1741964"/>
          </a:xfrm>
          <a:custGeom>
            <a:avLst/>
            <a:gdLst/>
            <a:ahLst/>
            <a:cxnLst/>
            <a:rect l="l" t="t" r="r" b="b"/>
            <a:pathLst>
              <a:path w="1793473" h="1741964">
                <a:moveTo>
                  <a:pt x="0" y="0"/>
                </a:moveTo>
                <a:lnTo>
                  <a:pt x="1793473" y="0"/>
                </a:lnTo>
                <a:lnTo>
                  <a:pt x="1793473" y="1741963"/>
                </a:lnTo>
                <a:lnTo>
                  <a:pt x="0" y="1741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0734675" y="1562141"/>
            <a:ext cx="6333147" cy="2426343"/>
            <a:chOff x="0" y="0"/>
            <a:chExt cx="8444196" cy="3235124"/>
          </a:xfrm>
        </p:grpSpPr>
        <p:sp>
          <p:nvSpPr>
            <p:cNvPr id="7" name="TextBox 7"/>
            <p:cNvSpPr txBox="1"/>
            <p:nvPr/>
          </p:nvSpPr>
          <p:spPr>
            <a:xfrm>
              <a:off x="0" y="1350123"/>
              <a:ext cx="8444196" cy="188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0"/>
                </a:lnSpc>
              </a:pPr>
              <a:r>
                <a:rPr lang="en-US" sz="2025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Employees can describe tasks using natural language, making interaction simple and intuitive for everyone involved. Or upload a job description that will frame the AI’s tasks </a:t>
              </a:r>
              <a:endParaRPr lang="en-US" sz="2025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444196" cy="1130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0"/>
                </a:lnSpc>
              </a:pPr>
              <a:r>
                <a:rPr lang="en-US" sz="2760" u="none" strike="noStrike" spc="-55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Natural Language Input or Job Description</a:t>
              </a:r>
              <a:endParaRPr lang="en-US" sz="2760" u="none" strike="noStrike" spc="-55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5817" y="1561821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2600" b="1">
                <a:solidFill>
                  <a:srgbClr val="DCEFF4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01</a:t>
            </a:r>
            <a:endParaRPr lang="en-US" sz="2600" b="1">
              <a:solidFill>
                <a:srgbClr val="DCEFF4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0734675" y="4248150"/>
            <a:ext cx="6524625" cy="2437810"/>
            <a:chOff x="0" y="0"/>
            <a:chExt cx="8699500" cy="325041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06716"/>
              <a:ext cx="8699500" cy="2443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0"/>
                </a:lnSpc>
              </a:pPr>
              <a:r>
                <a:rPr lang="en-US" sz="2085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system efficiently translates requests into structured workflows, automating tasks across multiple systems to enhance productivity. The system converts business processes into AI workflows. </a:t>
              </a:r>
              <a:endParaRPr lang="en-US" sz="2085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699500" cy="577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10"/>
                </a:lnSpc>
              </a:pPr>
              <a:r>
                <a:rPr lang="en-US" sz="2840" spc="-56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Process </a:t>
              </a:r>
              <a:r>
                <a:rPr lang="en-US" sz="2840" spc="-56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Automation</a:t>
              </a:r>
              <a:endParaRPr lang="en-US" sz="2840" spc="-56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655817" y="425923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2600" b="1">
                <a:solidFill>
                  <a:srgbClr val="DCEFF4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02</a:t>
            </a:r>
            <a:endParaRPr lang="en-US" sz="2600" b="1">
              <a:solidFill>
                <a:srgbClr val="DCEFF4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0734675" y="6934200"/>
            <a:ext cx="6886575" cy="2182495"/>
            <a:chOff x="0" y="0"/>
            <a:chExt cx="9182100" cy="290999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54075"/>
              <a:ext cx="9182100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Built-in governance features ensure security and compliance, with approvals and audit trails maintaining organizational integrity throughout processes.</a:t>
              </a:r>
              <a:endParaRPr lang="en-US" sz="2200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spc="-60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Comprehensive Governance</a:t>
              </a:r>
              <a:endParaRPr lang="en-US" sz="3000" spc="-60">
                <a:solidFill>
                  <a:srgbClr val="DCEFF4"/>
                </a:solidFill>
                <a:latin typeface="Inclusive Sans"/>
                <a:ea typeface="Inclusive Sans"/>
                <a:cs typeface="Inclusive Sans"/>
                <a:sym typeface="Inclusive San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655817" y="6945288"/>
            <a:ext cx="77405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2600" b="1">
                <a:solidFill>
                  <a:srgbClr val="DCEFF4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03</a:t>
            </a:r>
            <a:endParaRPr lang="en-US" sz="2600" b="1">
              <a:solidFill>
                <a:srgbClr val="DCEFF4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66750" y="809625"/>
            <a:ext cx="8477250" cy="197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10"/>
              </a:lnSpc>
            </a:pPr>
            <a:r>
              <a:rPr lang="en-US" sz="7610">
                <a:solidFill>
                  <a:srgbClr val="DCEFF4"/>
                </a:solidFill>
                <a:latin typeface="Lovelace Text" panose="00000500000000000000"/>
                <a:ea typeface="Lovelace Text" panose="00000500000000000000"/>
                <a:cs typeface="Lovelace Text" panose="00000500000000000000"/>
                <a:sym typeface="Lovelace Text" panose="00000500000000000000"/>
              </a:rPr>
              <a:t>NeuroWorks </a:t>
            </a:r>
            <a:endParaRPr lang="en-US" sz="7610">
              <a:solidFill>
                <a:srgbClr val="DCEFF4"/>
              </a:solidFill>
              <a:latin typeface="Lovelace Text" panose="00000500000000000000"/>
              <a:ea typeface="Lovelace Text" panose="00000500000000000000"/>
              <a:cs typeface="Lovelace Text" panose="00000500000000000000"/>
              <a:sym typeface="Lovelace Text" panose="00000500000000000000"/>
            </a:endParaRPr>
          </a:p>
          <a:p>
            <a:pPr marL="0" lvl="0" indent="0" algn="l">
              <a:lnSpc>
                <a:spcPts val="7610"/>
              </a:lnSpc>
            </a:pPr>
            <a:r>
              <a:rPr lang="en-US" sz="7610">
                <a:solidFill>
                  <a:srgbClr val="DCEFF4"/>
                </a:solidFill>
                <a:latin typeface="Lovelace Text" panose="00000500000000000000"/>
                <a:ea typeface="Lovelace Text" panose="00000500000000000000"/>
                <a:cs typeface="Lovelace Text" panose="00000500000000000000"/>
                <a:sym typeface="Lovelace Text" panose="00000500000000000000"/>
              </a:rPr>
              <a:t>AI workforce</a:t>
            </a:r>
            <a:endParaRPr lang="en-US" sz="7610">
              <a:solidFill>
                <a:srgbClr val="DCEFF4"/>
              </a:solidFill>
              <a:latin typeface="Lovelace Text" panose="00000500000000000000"/>
              <a:ea typeface="Lovelace Text" panose="00000500000000000000"/>
              <a:cs typeface="Lovelace Text" panose="00000500000000000000"/>
              <a:sym typeface="Lovelace Text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57300" y="223838"/>
            <a:ext cx="15773400" cy="1021080"/>
          </a:xfrm>
        </p:spPr>
        <p:txBody>
          <a:bodyPr>
            <a:normAutofit/>
          </a:bodyPr>
          <a:p>
            <a:r>
              <a:rPr lang="en-US" sz="4200" b="1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RIFTS-X - Records Intelligence &amp; File Tracking System</a:t>
            </a:r>
            <a:endParaRPr lang="en-US" sz="4200" b="1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914400" y="1116330"/>
            <a:ext cx="7711440" cy="8836343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3855" b="1"/>
              <a:t>Records Intelligence &amp; File Tracking System</a:t>
            </a:r>
            <a:endParaRPr lang="en-US" altLang="en-US" sz="3855" b="1"/>
          </a:p>
          <a:p>
            <a:r>
              <a:rPr lang="en-US" altLang="en-US" sz="3330"/>
              <a:t>Transforming how government institutions manage physical and digital files</a:t>
            </a:r>
            <a:endParaRPr lang="en-US" altLang="en-US" sz="3330"/>
          </a:p>
          <a:p>
            <a:pPr marL="0" indent="0">
              <a:buNone/>
            </a:pPr>
            <a:r>
              <a:rPr lang="en-US" altLang="en-US" sz="3855" b="1"/>
              <a:t>The Institutional File Problem</a:t>
            </a:r>
            <a:endParaRPr lang="en-US" altLang="en-US" sz="3855" b="1"/>
          </a:p>
          <a:p>
            <a:pPr marL="0" indent="0">
              <a:buNone/>
            </a:pPr>
            <a:r>
              <a:rPr lang="en-US" altLang="en-US" sz="3000"/>
              <a:t>Government offices face daily records challenges: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• Lost or misplaced files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• No real-time visibility of file location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• Slow approvals due to manual file movement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• Paper records disconnected from digital systems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• Weak audit trails and accountability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These issues lead to delayed decisions, operational inefficiencies, and institutional risk.</a:t>
            </a:r>
            <a:endParaRPr lang="en-US" altLang="en-US" sz="3000"/>
          </a:p>
        </p:txBody>
      </p:sp>
      <p:pic>
        <p:nvPicPr>
          <p:cNvPr id="8" name="Content Placeholder 7" descr="ChatGPT Image Mar 12, 2026 at 08_20_14 PM"/>
          <p:cNvPicPr>
            <a:picLocks noChangeAspect="1"/>
          </p:cNvPicPr>
          <p:nvPr>
            <p:ph sz="half" idx="2"/>
          </p:nvPr>
        </p:nvPicPr>
        <p:blipFill>
          <a:blip r:embed="rId1"/>
          <a:srcRect t="10760" b="16358"/>
          <a:stretch>
            <a:fillRect/>
          </a:stretch>
        </p:blipFill>
        <p:spPr>
          <a:xfrm>
            <a:off x="8904923" y="1116330"/>
            <a:ext cx="8749665" cy="898779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0" y="0"/>
            <a:ext cx="2476500" cy="10220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1170</Words>
  <Application>WPS Presentation</Application>
  <PresentationFormat>On-screen Show (4:3)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Inclusive Sans</vt:lpstr>
      <vt:lpstr>Lovelace Text Bold</vt:lpstr>
      <vt:lpstr>Lovelace Text</vt:lpstr>
      <vt:lpstr>Microsoft YaHei</vt:lpstr>
      <vt:lpstr>Arial Unicode MS</vt:lpstr>
      <vt:lpstr>Calibri</vt:lpstr>
      <vt:lpstr>Verdana</vt:lpstr>
      <vt:lpstr>Office Theme</vt:lpstr>
      <vt:lpstr>PowerPoint 演示文稿</vt:lpstr>
      <vt:lpstr>RIFTS-X - Records Intelligence &amp; File Tracking System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Natural Language Input</dc:title>
  <dc:creator/>
  <dc:description>Presentation - Natural Language Input</dc:description>
  <cp:lastModifiedBy>King_Arthur</cp:lastModifiedBy>
  <cp:revision>2</cp:revision>
  <dcterms:created xsi:type="dcterms:W3CDTF">2006-08-16T00:00:00Z</dcterms:created>
  <dcterms:modified xsi:type="dcterms:W3CDTF">2026-03-13T08:26:25Z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A1E436715D454CABA6C158DE3075CD10_12</vt:lpwstr>
  </property>
  <property fmtid="{D5CDD505-2E9C-101B-9397-08002B2CF9AE}" pid="3" name="KSOProductBuildVer">
    <vt:lpwstr>1033-12.2.0.23196</vt:lpwstr>
  </property>
</Properties>
</file>