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K Grotesk Semi-Bold" charset="1" panose="00000700000000000000"/>
      <p:regular r:id="rId15"/>
    </p:embeddedFont>
    <p:embeddedFont>
      <p:font typeface="HK Grotesk" charset="1" panose="00000500000000000000"/>
      <p:regular r:id="rId16"/>
    </p:embeddedFont>
    <p:embeddedFont>
      <p:font typeface="Noto Serif Display ExtraCondensed Light" charset="1" panose="02020406080505020204"/>
      <p:regular r:id="rId17"/>
    </p:embeddedFont>
    <p:embeddedFont>
      <p:font typeface="HK Grotesk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E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872502" y="676275"/>
            <a:ext cx="7423898" cy="3420567"/>
          </a:xfrm>
          <a:custGeom>
            <a:avLst/>
            <a:gdLst/>
            <a:ahLst/>
            <a:cxnLst/>
            <a:rect r="r" b="b" t="t" l="l"/>
            <a:pathLst>
              <a:path h="3420567" w="7423898">
                <a:moveTo>
                  <a:pt x="0" y="0"/>
                </a:moveTo>
                <a:lnTo>
                  <a:pt x="7423898" y="0"/>
                </a:lnTo>
                <a:lnTo>
                  <a:pt x="7423898" y="3420567"/>
                </a:lnTo>
                <a:lnTo>
                  <a:pt x="0" y="34205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123" t="-45817" r="-11689" b="-4507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1638300"/>
            <a:ext cx="6886575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</a:pPr>
            <a:r>
              <a:rPr lang="en-US" b="true" sz="3899" u="none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AIIA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6750" y="4573905"/>
            <a:ext cx="6886575" cy="4989195"/>
            <a:chOff x="0" y="0"/>
            <a:chExt cx="9182100" cy="665226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5534660"/>
              <a:ext cx="9182100" cy="111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Presented by the Artificial Intelligence Institute Africa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28600"/>
              <a:ext cx="9182100" cy="4437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525"/>
                </a:lnSpc>
              </a:pPr>
              <a:r>
                <a:rPr lang="en-US" sz="12525" spc="-250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High-Impact Investment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002E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002E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059155" y="288242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66750" y="6038850"/>
            <a:ext cx="6886575" cy="3429000"/>
            <a:chOff x="0" y="0"/>
            <a:chExt cx="9182100" cy="4572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472A6E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Economic Growth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337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lithium beneficiation facility is poised to significantly </a:t>
              </a:r>
              <a:r>
                <a:rPr lang="en-US" b="true" sz="2400" strike="noStrike" u="none">
                  <a:solidFill>
                    <a:srgbClr val="002E5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drive economic growth</a:t>
              </a:r>
              <a:r>
                <a:rPr lang="en-US" sz="240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in Zimbabwe by creating skilled employment opportunities and stimulating industrialization in the region's resource sector. 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Investment- USD50-100m/IRR 10-25%/Payback 4-6years/ Risk medium-high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038850"/>
            <a:ext cx="6886575" cy="2705100"/>
            <a:chOff x="0" y="0"/>
            <a:chExt cx="9182100" cy="36068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472A6E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Market Potential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projected market for lithium products in Zimbabwe ranges from </a:t>
              </a:r>
              <a:r>
                <a:rPr lang="en-US" b="true" sz="2400" strike="noStrike" u="none">
                  <a:solidFill>
                    <a:srgbClr val="002E5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USD 1-2 billion SADC USD 10bn+</a:t>
              </a:r>
              <a:r>
                <a:rPr lang="en-US" sz="240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positioning the country as a key player in the regional battery minerals market with substantial investment opportunities.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3429000"/>
            <a:chOff x="0" y="0"/>
            <a:chExt cx="22606000" cy="45720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19295229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96B2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Minerals Processing &amp; Beneficiation (Lithium)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0132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472A6E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Lithium Beneficiation Opportunities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E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739688" y="3027960"/>
            <a:ext cx="5323705" cy="3010890"/>
          </a:xfrm>
          <a:custGeom>
            <a:avLst/>
            <a:gdLst/>
            <a:ahLst/>
            <a:cxnLst/>
            <a:rect r="r" b="b" t="t" l="l"/>
            <a:pathLst>
              <a:path h="3010890" w="5323705">
                <a:moveTo>
                  <a:pt x="0" y="0"/>
                </a:moveTo>
                <a:lnTo>
                  <a:pt x="5323705" y="0"/>
                </a:lnTo>
                <a:lnTo>
                  <a:pt x="5323705" y="3010890"/>
                </a:lnTo>
                <a:lnTo>
                  <a:pt x="0" y="3010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92" t="-26264" r="-9242" b="-2270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66750" y="6038850"/>
            <a:ext cx="6886575" cy="3429000"/>
            <a:chOff x="0" y="0"/>
            <a:chExt cx="9182100" cy="4572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Energy Security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337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Implementing utility-scale solar projects ensures energy security for critical sectors like industry and healthcare, significantly reducing reliance on unstable energy sources and promoting economic growth.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Investment: USD 20–80m | IRR 12–18% | Payback 6–8 yrs | Risk: Medium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038850"/>
            <a:ext cx="6886575" cy="2705100"/>
            <a:chOff x="0" y="0"/>
            <a:chExt cx="9182100" cy="36068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Market Potential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With over 1,000MW energy gap in Zimbabwe, the renewable energy market presents a substantial investment opportunity, projected at USD 20 billion across the Southern African Development Community (SADC).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3429000"/>
            <a:chOff x="0" y="0"/>
            <a:chExt cx="22606000" cy="45720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Renewable Energy &amp; Power Infrastructure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0132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Solar power and storage innovations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002E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002E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307671" y="1377756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66750" y="6038850"/>
            <a:ext cx="6886575" cy="3067050"/>
            <a:chOff x="0" y="0"/>
            <a:chExt cx="9182100" cy="40894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472A6E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Beef Value Chain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289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Developing an integrated beef value chain will enhance </a:t>
              </a:r>
              <a:r>
                <a:rPr lang="en-US" b="true" sz="2400" strike="noStrike" u="none">
                  <a:solidFill>
                    <a:srgbClr val="002E5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food exports</a:t>
              </a:r>
              <a:r>
                <a:rPr lang="en-US" sz="240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generate rural jobs, and contribute to import substitution, positively impacting local economies and food security.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Investment: USD 15–50m | IRR 14–20% | Payback 5–7 yrs | Risk: Medium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038850"/>
            <a:ext cx="6886575" cy="2705100"/>
            <a:chOff x="0" y="0"/>
            <a:chExt cx="9182100" cy="36068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472A6E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Certified Seeds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introduction of certified seeds will strengthen agricultural productivity, enabling farmers to achieve higher yields and improved quality, which will further boost the agro-processing industry in Zimbabwe.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691507"/>
            <a:ext cx="16954500" cy="2080393"/>
            <a:chOff x="0" y="0"/>
            <a:chExt cx="22606000" cy="277385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71450"/>
              <a:ext cx="19898190" cy="16067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50"/>
                </a:lnSpc>
              </a:pPr>
              <a:r>
                <a:rPr lang="en-US" sz="8750" spc="-175">
                  <a:solidFill>
                    <a:srgbClr val="D96B2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Beef, Seed Systems &amp; Agro-Processing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215057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472A6E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Integrated value chain opportunities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E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169367" y="1028700"/>
            <a:ext cx="5451883" cy="3841874"/>
          </a:xfrm>
          <a:custGeom>
            <a:avLst/>
            <a:gdLst/>
            <a:ahLst/>
            <a:cxnLst/>
            <a:rect r="r" b="b" t="t" l="l"/>
            <a:pathLst>
              <a:path h="3841874" w="5451883">
                <a:moveTo>
                  <a:pt x="0" y="0"/>
                </a:moveTo>
                <a:lnTo>
                  <a:pt x="5451883" y="0"/>
                </a:lnTo>
                <a:lnTo>
                  <a:pt x="5451883" y="3841874"/>
                </a:lnTo>
                <a:lnTo>
                  <a:pt x="0" y="3841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66750" y="6038850"/>
            <a:ext cx="6886575" cy="3067050"/>
            <a:chOff x="0" y="0"/>
            <a:chExt cx="9182100" cy="40894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Data Centres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289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AI-ready data centres are critical for enhancing data processing efficiency, enabling faster decision-making, and supporting the growing demand for digital services across various sectors in Africa.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Investment: USD 20–60m | IRR 20–30% | Payback 3–5 yrs | Risk: Medium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038850"/>
            <a:ext cx="6886575" cy="2705100"/>
            <a:chOff x="0" y="0"/>
            <a:chExt cx="9182100" cy="36068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Digital Platforms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Regional digital platforms facilitate seamless connectivity and collaboration among businesses, driving innovation and economic growth while improving access to essential services for communities throughout the continent.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3429000"/>
            <a:chOff x="0" y="0"/>
            <a:chExt cx="22606000" cy="45720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15241223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Digital &amp; AI Infrastructure &amp; Applications for Africa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0132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Transforming Africa's technological landscape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002E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002E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983143" y="0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66750" y="6038850"/>
            <a:ext cx="6886575" cy="3429000"/>
            <a:chOff x="0" y="0"/>
            <a:chExt cx="9182100" cy="4572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472A6E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Cross-Border Payments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337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Implementing </a:t>
              </a:r>
              <a:r>
                <a:rPr lang="en-US" b="true" sz="2400" strike="noStrike" u="none">
                  <a:solidFill>
                    <a:srgbClr val="002E5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efficient cross-border payment systems</a:t>
              </a:r>
              <a:r>
                <a:rPr lang="en-US" sz="240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can significantly reduce transaction costs, enhance trade efficiency, and improve financial accessibility for small and medium enterprises across the region.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Investment: USD 10–40m | IRR 22–35% | Payback 3–4 yrs | Risk: Medium–High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038850"/>
            <a:ext cx="6886575" cy="3067050"/>
            <a:chOff x="0" y="0"/>
            <a:chExt cx="9182100" cy="4089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472A6E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Digital Banking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93800"/>
              <a:ext cx="9182100" cy="289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rise of </a:t>
              </a:r>
              <a:r>
                <a:rPr lang="en-US" b="true" sz="2400" strike="noStrike" u="none">
                  <a:solidFill>
                    <a:srgbClr val="002E5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digital banking</a:t>
              </a:r>
              <a:r>
                <a:rPr lang="en-US" sz="240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platforms in Africa offers unbanked populations greater access to financial services, promoting economic inclusion and driving significant growth within the fintech sector.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Market: Zimbabwe USD 200m | SADC USD 30bn transaction value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3429000"/>
            <a:chOff x="0" y="0"/>
            <a:chExt cx="22606000" cy="45720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18923612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96B2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Fintech, Digital Banking &amp; Emerging Financial Platforms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0132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472A6E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Empowering digital financial solutions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E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405280" y="1228851"/>
            <a:ext cx="4854020" cy="3420567"/>
          </a:xfrm>
          <a:custGeom>
            <a:avLst/>
            <a:gdLst/>
            <a:ahLst/>
            <a:cxnLst/>
            <a:rect r="r" b="b" t="t" l="l"/>
            <a:pathLst>
              <a:path h="3420567" w="4854020">
                <a:moveTo>
                  <a:pt x="0" y="0"/>
                </a:moveTo>
                <a:lnTo>
                  <a:pt x="4854020" y="0"/>
                </a:lnTo>
                <a:lnTo>
                  <a:pt x="4854020" y="3420567"/>
                </a:lnTo>
                <a:lnTo>
                  <a:pt x="0" y="342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66750" y="6038850"/>
            <a:ext cx="6886575" cy="3429000"/>
            <a:chOff x="0" y="0"/>
            <a:chExt cx="9182100" cy="4572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Digital Platforms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337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Digital SME platforms facilitate </a:t>
              </a:r>
              <a:r>
                <a:rPr lang="en-US" b="true" sz="2400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business connectivity</a:t>
              </a: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and collaboration, enabling small enterprises to access resources, share best practices, and optimize their operations for increased productivity and growth.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Investment: USD 10–30m | IRR 15–20% | Payback 6–8 yrs | Risk: Medium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038850"/>
            <a:ext cx="6886575" cy="3067050"/>
            <a:chOff x="0" y="0"/>
            <a:chExt cx="9182100" cy="4089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Industrial Parks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93800"/>
              <a:ext cx="9182100" cy="289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Establishing industrial parks promotes </a:t>
              </a:r>
              <a:r>
                <a:rPr lang="en-US" b="true" sz="2400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job creation</a:t>
              </a: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and economic activity by providing businesses with the necessary infrastructure and resources to scale, driving local development and fostering entrepreneurship.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Market: Zimbabwe USD 300m | SADC 50m SMEs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2001926"/>
            <a:ext cx="16954500" cy="1769974"/>
            <a:chOff x="0" y="0"/>
            <a:chExt cx="22606000" cy="235996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23825"/>
              <a:ext cx="15810073" cy="1240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714"/>
                </a:lnSpc>
              </a:pPr>
              <a:r>
                <a:rPr lang="en-US" sz="6714" spc="-134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SME Enablement &amp; Industrial Platforms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801165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Enhancing industrial platforms for growth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002E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002E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739688" y="1216202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7" y="0"/>
                </a:lnTo>
                <a:lnTo>
                  <a:pt x="5750607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66750" y="6038850"/>
            <a:ext cx="6886575" cy="3362325"/>
            <a:chOff x="0" y="0"/>
            <a:chExt cx="9182100" cy="44831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472A6E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Carbon Credits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328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Carbon credits offer opportunities for investors to engage in </a:t>
              </a:r>
              <a:r>
                <a:rPr lang="en-US" b="true" sz="2370" strike="noStrike" u="none">
                  <a:solidFill>
                    <a:srgbClr val="002E5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global carbon markets</a:t>
              </a:r>
              <a:r>
                <a:rPr lang="en-US" sz="237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while promoting climate resilience, generating revenue through sustainable practices that contribute to reducing greenhouse gas emissions.</a:t>
              </a:r>
            </a:p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Investment: USD 10–40m | IRR 12–18% | Payback 7–10 yrs | Risk: Medium–High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038850"/>
            <a:ext cx="6886575" cy="3527702"/>
            <a:chOff x="0" y="0"/>
            <a:chExt cx="9182100" cy="470360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472A6E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Green Infrastructure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84275"/>
              <a:ext cx="8572931" cy="3519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5"/>
                </a:lnSpc>
              </a:pPr>
              <a:r>
                <a:rPr lang="en-US" sz="2212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Developing green infrastructure fosters environmental sustainability </a:t>
              </a:r>
              <a:r>
                <a:rPr lang="en-US" b="true" sz="2212" strike="noStrike" u="none">
                  <a:solidFill>
                    <a:srgbClr val="002E5D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while supporting economic growth</a:t>
              </a:r>
              <a:r>
                <a:rPr lang="en-US" sz="2212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creating jobs, and enhancing community resilience through initiatives like renewable energy projects and climate-aware urban planning.</a:t>
              </a:r>
            </a:p>
            <a:p>
              <a:pPr algn="l" marL="0" indent="0" lvl="0">
                <a:lnSpc>
                  <a:spcPts val="2655"/>
                </a:lnSpc>
              </a:pPr>
              <a:r>
                <a:rPr lang="en-US" sz="2212" strike="noStrike" u="none">
                  <a:solidFill>
                    <a:srgbClr val="002E5D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Market: Zimbabwe 5–10m credits | Africa USD 50bn by 2050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3429000"/>
            <a:chOff x="0" y="0"/>
            <a:chExt cx="22606000" cy="45720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18822261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96B2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Climate-Resilient, Environmental &amp; Green Projects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0132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472A6E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Investing in a sustainable future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E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965994" y="1161555"/>
            <a:ext cx="4293306" cy="3010890"/>
          </a:xfrm>
          <a:custGeom>
            <a:avLst/>
            <a:gdLst/>
            <a:ahLst/>
            <a:cxnLst/>
            <a:rect r="r" b="b" t="t" l="l"/>
            <a:pathLst>
              <a:path h="3010890" w="4293306">
                <a:moveTo>
                  <a:pt x="0" y="0"/>
                </a:moveTo>
                <a:lnTo>
                  <a:pt x="4293306" y="0"/>
                </a:lnTo>
                <a:lnTo>
                  <a:pt x="4293306" y="3010890"/>
                </a:lnTo>
                <a:lnTo>
                  <a:pt x="0" y="3010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66750" y="6038850"/>
            <a:ext cx="6886575" cy="3429000"/>
            <a:chOff x="0" y="0"/>
            <a:chExt cx="9182100" cy="4572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Healthcare Access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337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Regional specialised hospitals will significantly improve </a:t>
              </a:r>
              <a:r>
                <a:rPr lang="en-US" b="true" sz="2400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healthcare access</a:t>
              </a: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reducing the need for medical tourism and enhancing local treatment capabilities across Zimbabwe and surrounding countries.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Investment: USD 30–80m | IRR 13–18% | Payback 7–9 yrs | Risk: Medium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038850"/>
            <a:ext cx="6886575" cy="3067050"/>
            <a:chOff x="0" y="0"/>
            <a:chExt cx="9182100" cy="4089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Diagnostic Excellence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93800"/>
              <a:ext cx="9182100" cy="289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Establishing diagnostics centres will foster </a:t>
              </a:r>
              <a:r>
                <a:rPr lang="en-US" b="true" sz="2400" strike="noStrike" u="non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diagnostic excellence</a:t>
              </a: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enabling quicker and more accurate medical evaluations, ultimately improving treatment outcomes and health management in the region.</a:t>
              </a:r>
            </a:p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Market: Zimbabwe USD 1bn | SADC USD 5–7bn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3429000"/>
            <a:chOff x="0" y="0"/>
            <a:chExt cx="22606000" cy="45720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17470926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Specialized </a:t>
              </a:r>
              <a:r>
                <a:rPr lang="en-US" sz="9600" spc="-192">
                  <a:solidFill>
                    <a:srgbClr val="FFFFFF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Healthcare &amp; Medical Infrastructure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0132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Enhanced Medical Infrastructure in Africa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High-Impact Investment</dc:description>
  <dc:identifier>DAG_IbSpQck</dc:identifier>
  <dcterms:modified xsi:type="dcterms:W3CDTF">2011-08-01T06:04:30Z</dcterms:modified>
  <cp:revision>1</cp:revision>
  <dc:title>Presentation - High-Impact Investment</dc:title>
</cp:coreProperties>
</file>