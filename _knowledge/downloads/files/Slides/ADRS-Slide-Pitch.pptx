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33" r:id="rId1"/>
  </p:sldMasterIdLst>
  <p:notesMasterIdLst>
    <p:notesMasterId r:id="rId3"/>
  </p:notesMasterIdLst>
  <p:sldIdLst>
    <p:sldId id="257" r:id="rId2"/>
  </p:sldIdLst>
  <p:sldSz cx="14630400" cy="8229600"/>
  <p:notesSz cx="8229600" cy="14630400"/>
  <p:embeddedFontLst>
    <p:embeddedFont>
      <p:font typeface="Syne Extra Bold" panose="020B0604020202020204" charset="0"/>
      <p:regular r:id="rId4"/>
    </p:embeddedFont>
    <p:embeddedFont>
      <p:font typeface="Wingdings 3" panose="05040102010807070707" pitchFamily="18" charset="2"/>
      <p:regular r:id="rId5"/>
    </p:embeddedFon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Syne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274" autoAdjust="0"/>
  </p:normalViewPr>
  <p:slideViewPr>
    <p:cSldViewPr snapToGrid="0" snapToObjects="1">
      <p:cViewPr varScale="1">
        <p:scale>
          <a:sx n="70" d="100"/>
          <a:sy n="70" d="100"/>
        </p:scale>
        <p:origin x="379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50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956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127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366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044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823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92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118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134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224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573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413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781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21798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314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07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96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13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B9E6C-B99C-403E-B1CE-4D421A79974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256F8DCC-50E4-453C-AAB4-87CA33A82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1" r:id="rId1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84" y="835227"/>
            <a:ext cx="10574906" cy="7049937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003836" y="476986"/>
            <a:ext cx="3575820" cy="83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4400" b="1" dirty="0" smtClean="0"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AI DATA READINESS SYSTEM</a:t>
            </a:r>
            <a:endParaRPr lang="en-US" sz="4400" dirty="0"/>
          </a:p>
          <a:p>
            <a:pPr marL="0" indent="0" algn="ctr">
              <a:lnSpc>
                <a:spcPts val="1350"/>
              </a:lnSpc>
              <a:buNone/>
            </a:pPr>
            <a:endParaRPr lang="en-US" sz="4400" b="1" dirty="0"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endParaRPr lang="en-US" sz="4400" b="1" dirty="0">
              <a:latin typeface="Syne Extra Bold" pitchFamily="34" charset="0"/>
              <a:ea typeface="Syne Extra Bold" pitchFamily="34" charset="-122"/>
              <a:cs typeface="Syne Extra Bold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4400" b="1" dirty="0" smtClean="0"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ADRS</a:t>
            </a:r>
          </a:p>
        </p:txBody>
      </p:sp>
      <p:sp>
        <p:nvSpPr>
          <p:cNvPr id="48" name="Text 33"/>
          <p:cNvSpPr/>
          <p:nvPr/>
        </p:nvSpPr>
        <p:spPr>
          <a:xfrm>
            <a:off x="12071390" y="1943269"/>
            <a:ext cx="255901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endParaRPr lang="en-US" sz="6000" b="1" dirty="0">
              <a:latin typeface="Syne Extra Bold" pitchFamily="34" charset="0"/>
            </a:endParaRPr>
          </a:p>
          <a:p>
            <a:pPr marL="0" indent="0" algn="ctr">
              <a:lnSpc>
                <a:spcPts val="2900"/>
              </a:lnSpc>
              <a:buNone/>
            </a:pPr>
            <a:endParaRPr lang="en-US" sz="6000" dirty="0"/>
          </a:p>
        </p:txBody>
      </p:sp>
      <p:sp>
        <p:nvSpPr>
          <p:cNvPr id="53" name="Text 38"/>
          <p:cNvSpPr/>
          <p:nvPr/>
        </p:nvSpPr>
        <p:spPr>
          <a:xfrm>
            <a:off x="8676442" y="8299013"/>
            <a:ext cx="255901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Full audit lineage</a:t>
            </a:r>
            <a:endParaRPr lang="en-US" sz="850" dirty="0"/>
          </a:p>
        </p:txBody>
      </p:sp>
      <p:sp>
        <p:nvSpPr>
          <p:cNvPr id="57" name="TextBox 56"/>
          <p:cNvSpPr txBox="1"/>
          <p:nvPr/>
        </p:nvSpPr>
        <p:spPr>
          <a:xfrm flipH="1">
            <a:off x="744290" y="2101531"/>
            <a:ext cx="13986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mtClean="0"/>
              <a:t>ADRS </a:t>
            </a:r>
            <a:r>
              <a:rPr lang="en-US" sz="2000" b="1" dirty="0" smtClean="0"/>
              <a:t>transforms raw documents into immutable evidence-traced, schema-versioned AI-ready datasets – a governed data factory purpose-built for enterprise AI adoption</a:t>
            </a:r>
            <a:endParaRPr lang="en-US" sz="2000" b="1" dirty="0"/>
          </a:p>
        </p:txBody>
      </p:sp>
      <p:sp>
        <p:nvSpPr>
          <p:cNvPr id="58" name="Text 27"/>
          <p:cNvSpPr/>
          <p:nvPr/>
        </p:nvSpPr>
        <p:spPr>
          <a:xfrm>
            <a:off x="1306162" y="6124492"/>
            <a:ext cx="20095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Machine Learning</a:t>
            </a:r>
            <a:endParaRPr lang="en-US" sz="2000" dirty="0">
              <a:solidFill>
                <a:srgbClr val="1C1C1C"/>
              </a:solidFill>
            </a:endParaRPr>
          </a:p>
        </p:txBody>
      </p:sp>
      <p:sp>
        <p:nvSpPr>
          <p:cNvPr id="59" name="Text 29"/>
          <p:cNvSpPr/>
          <p:nvPr/>
        </p:nvSpPr>
        <p:spPr>
          <a:xfrm>
            <a:off x="4892825" y="6124492"/>
            <a:ext cx="5231261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b="1" dirty="0">
                <a:solidFill>
                  <a:srgbClr val="1C1C1C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RAG / </a:t>
            </a:r>
            <a:r>
              <a:rPr lang="en-US" b="1" dirty="0" smtClean="0">
                <a:solidFill>
                  <a:srgbClr val="1C1C1C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LLM Knowledge </a:t>
            </a:r>
            <a:r>
              <a:rPr lang="en-US" b="1" dirty="0">
                <a:solidFill>
                  <a:srgbClr val="1C1C1C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Systems</a:t>
            </a:r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60" name="Text 31"/>
          <p:cNvSpPr/>
          <p:nvPr/>
        </p:nvSpPr>
        <p:spPr>
          <a:xfrm>
            <a:off x="9955947" y="6093528"/>
            <a:ext cx="4612578" cy="78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b="1" dirty="0">
                <a:solidFill>
                  <a:srgbClr val="1C1C1C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Knowledge Graph Intelligence</a:t>
            </a:r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 flipH="1">
            <a:off x="5168992" y="6771039"/>
            <a:ext cx="4173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Feed large Language Models with trusted, traceable enterprise knowledge 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 flipH="1">
            <a:off x="602101" y="6731023"/>
            <a:ext cx="4173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Unlock structured datasets from existing document archives for model training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 flipH="1">
            <a:off x="10317646" y="6798470"/>
            <a:ext cx="3763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Build golden records and entity relationships across your entire document estate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 flipH="1">
            <a:off x="6422359" y="5193127"/>
            <a:ext cx="2819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Canonical</a:t>
            </a:r>
          </a:p>
          <a:p>
            <a:pPr algn="ctr"/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 flipH="1">
            <a:off x="8228307" y="5165718"/>
            <a:ext cx="2819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Knowledge </a:t>
            </a:r>
          </a:p>
          <a:p>
            <a:pPr algn="ctr"/>
            <a:r>
              <a:rPr lang="en-US" dirty="0" smtClean="0"/>
              <a:t>Graph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 flipH="1">
            <a:off x="4377013" y="5260945"/>
            <a:ext cx="281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Trust Layer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 flipH="1">
            <a:off x="2349315" y="5275000"/>
            <a:ext cx="281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AI Extraction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 flipH="1">
            <a:off x="543367" y="5271574"/>
            <a:ext cx="281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Documents</a:t>
            </a:r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11318716" y="7326774"/>
            <a:ext cx="2262565" cy="601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298" y="-619219"/>
            <a:ext cx="4737686" cy="3336287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850940" y="1500094"/>
            <a:ext cx="78255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Your Documents Hold Billions in Untapped AI Value</a:t>
            </a:r>
            <a:endParaRPr lang="en-US" sz="20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684" y="2893948"/>
            <a:ext cx="3952082" cy="27857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271</TotalTime>
  <Words>89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Syne Extra Bold</vt:lpstr>
      <vt:lpstr>Wingdings 3</vt:lpstr>
      <vt:lpstr>Century Gothic</vt:lpstr>
      <vt:lpstr>Calibri</vt:lpstr>
      <vt:lpstr>Syne</vt:lpstr>
      <vt:lpstr>Arial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God's will</dc:creator>
  <cp:lastModifiedBy>God's will</cp:lastModifiedBy>
  <cp:revision>21</cp:revision>
  <dcterms:created xsi:type="dcterms:W3CDTF">2026-03-11T07:06:44Z</dcterms:created>
  <dcterms:modified xsi:type="dcterms:W3CDTF">2026-03-12T18:54:48Z</dcterms:modified>
</cp:coreProperties>
</file>