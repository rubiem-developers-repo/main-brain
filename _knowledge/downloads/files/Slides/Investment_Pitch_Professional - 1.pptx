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Z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Z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B0DF6390-A156-410B-9EF5-132F88175C92}" type="datetime">
              <a:rPr b="0" lang="en-ZA" sz="1200" spc="-1" strike="noStrike">
                <a:solidFill>
                  <a:srgbClr val="8b8b8b"/>
                </a:solidFill>
                <a:latin typeface="Calibri"/>
              </a:rPr>
              <a:t>26-01-22</a:t>
            </a:fld>
            <a:endParaRPr b="0" lang="en-ZA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ZA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884569D-9071-48E3-B791-5B072C7D003D}" type="slidenum">
              <a:rPr b="0" lang="en-Z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Z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-797760" y="2286000"/>
            <a:ext cx="1073952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ZA" sz="3600" spc="-1" strike="noStrike">
                <a:solidFill>
                  <a:srgbClr val="003366"/>
                </a:solidFill>
                <a:latin typeface="Calibri"/>
              </a:rPr>
              <a:t>Afreximbank</a:t>
            </a:r>
            <a:br/>
            <a:r>
              <a:rPr b="1" lang="en-ZA" sz="3600" spc="-1" strike="noStrike">
                <a:solidFill>
                  <a:srgbClr val="003366"/>
                </a:solidFill>
                <a:latin typeface="Calibri"/>
              </a:rPr>
              <a:t>High-Impact Trade &amp; Development Investment Portfolio</a:t>
            </a:r>
            <a:endParaRPr b="0" lang="en-ZA" sz="3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ZA" sz="1800" spc="-1" strike="noStrike">
                <a:solidFill>
                  <a:srgbClr val="2d2d2d"/>
                </a:solidFill>
                <a:latin typeface="Calibri"/>
              </a:rPr>
              <a:t>Zimbabwe Focus | SADC Regional Scale</a:t>
            </a:r>
            <a:endParaRPr b="0" lang="en-Z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1410480" y="457200"/>
            <a:ext cx="641412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Minerals Processing &amp; Beneficiation (Lithium)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Lithium beneficiation facility converting raw ore into battery-grade products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FX growth, industrialisation, skilled employment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Regional battery minerals beneficiation hub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USD 1–2bn | SADC USD 10bn+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50–100m | IRR 18–25% | Payback 4–6 yrs | Risk: Medium–High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489240" y="457200"/>
            <a:ext cx="825696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Renewable Energy &amp; Power Infrastructure (Solar + Storage)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Utility-scale and embedded solar with battery storage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Energy security for industry, mining, hospitals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Replicable IPP model across power-deficit markets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&gt;1,000MW gap | SADC USD 20bn+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20–80m | IRR 12–18% | Payback 6–8 yrs | Risk: Medium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1927080" y="457200"/>
            <a:ext cx="538092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Beef, Seed Systems &amp; Agro-Processing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Integrated beef value chain, certified seeds, agro-processing facilities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Food exports, rural jobs, import substitution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Regional food value-chain integration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USD 500m | SADC USD 15bn+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15–50m | IRR 14–20% | Payback 5–7 yrs | Risk: Medium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915840" y="457200"/>
            <a:ext cx="74034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Digital &amp; AI Infrastructure and Applications for Africa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AI-ready data centres and regional digital platforms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Trade digitisation and productivity gains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Regional AI and data services hub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USD 150–300m | SADC USD 5bn+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20–60m | IRR 20–30% | Payback 3–5 yrs | Risk: Medium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745920" y="457200"/>
            <a:ext cx="774324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Fintech, Digital Banking &amp; Emerging Financial Platforms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Cross-border payments, digital banking, regulated digital assets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Lower trade friction and SME finance access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AfCFTA-aligned payment and settlement rails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USD 200m | SADC USD 30bn transaction value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10–40m | IRR 22–35% | Payback 3–4 yrs | Risk: Medium–High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1821960" y="457200"/>
            <a:ext cx="559116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SME Enablement &amp; Industrial Platforms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53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Industrial parks and digital SME platforms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SME formalisation and export participation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Regional SME supplier networks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USD 300m | SADC 50m SMEs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10–30m | IRR 15–20% | Payback 6–8 yrs | Risk: Medium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1087920" y="457200"/>
            <a:ext cx="705888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Climate-Resilient, Environmental &amp; Green Projects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Carbon credits, climate intelligence, green infrastructure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ESG revenues and climate resilience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Regional carbon and climate platforms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5–10m credits | Africa USD 50bn by 2050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10–40m | IRR 12–18% | Payback 7–10 yrs | Risk: Medium–High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1264680" y="457200"/>
            <a:ext cx="670536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ZA" sz="2600" spc="-1" strike="noStrike">
                <a:solidFill>
                  <a:srgbClr val="003366"/>
                </a:solidFill>
                <a:latin typeface="Calibri"/>
              </a:rPr>
              <a:t>Specialised Healthcare &amp; Medical Infrastructure</a:t>
            </a:r>
            <a:endParaRPr b="0" lang="en-ZA" sz="26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731520" y="1554480"/>
            <a:ext cx="7772040" cy="130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Regional specialised hospitals and diagnostics centres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Zimbabwe impact: Reduced medical tourism FX outflows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SADC scale: Regional healthcare destination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Market: Zimbabwe USD 1bn | SADC USD 5–7bn</a:t>
            </a:r>
            <a:endParaRPr b="0" lang="en-ZA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ZA" sz="1600" spc="-1" strike="noStrike">
                <a:solidFill>
                  <a:srgbClr val="2d2d2d"/>
                </a:solidFill>
                <a:latin typeface="Calibri"/>
              </a:rPr>
              <a:t>Investment: USD 30–80m | IRR 13–18% | Payback 7–9 yrs | Risk: Medium</a:t>
            </a:r>
            <a:endParaRPr b="0" lang="en-Z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Neat_Office/6.2.8.2$Windows_x86 LibreOffice_project/</Application>
  <Words>482</Words>
  <Paragraphs>50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dr magaya</dc:creator>
  <dc:description>generated using python-pptx</dc:description>
  <dc:language>en-ZA</dc:language>
  <cp:lastModifiedBy>dr magaya</cp:lastModifiedBy>
  <dcterms:modified xsi:type="dcterms:W3CDTF">2026-01-22T08:53:16Z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9</vt:i4>
  </property>
</Properties>
</file>